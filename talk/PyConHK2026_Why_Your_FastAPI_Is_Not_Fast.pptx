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</p:sldIdLst>
  <p:sldSz cy="5143500" cx="9144000"/>
  <p:notesSz cx="6858000" cy="9144000"/>
  <p:embeddedFontLst>
    <p:embeddedFont>
      <p:font typeface="Lora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" Type="http://schemas.openxmlformats.org/officeDocument/2006/relationships/font" Target="fonts/Lora-regular.fntdata"/><Relationship Id="rId18" Type="http://schemas.openxmlformats.org/officeDocument/2006/relationships/font" Target="fonts/Lora-bold.fntdata"/><Relationship Id="rId19" Type="http://schemas.openxmlformats.org/officeDocument/2006/relationships/font" Target="fonts/Lora-italic.fntdata"/><Relationship Id="rId20" Type="http://schemas.openxmlformats.org/officeDocument/2006/relationships/font" Target="fonts/Lora-boldItalic.fntdata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D71920"/>
              </a:solidFill>
            </c:spPr>
          </c:dPt>
          <c:dPt>
            <c:idx val="1"/>
            <c:spPr>
              <a:solidFill>
                <a:srgbClr val="2F559A"/>
              </a:solidFill>
            </c:spPr>
          </c:dPt>
          <c:dPt>
            <c:idx val="2"/>
            <c:spPr>
              <a:solidFill>
                <a:srgbClr val="2F559A"/>
              </a:solidFill>
            </c:spPr>
          </c:dPt>
          <c:cat>
            <c:strRef>
              <c:f>Sheet1!$A$2:$A$4</c:f>
              <c:strCache>
                <c:ptCount val="3"/>
                <c:pt idx="0">
                  <c:v>bad
requests</c:v>
                </c:pt>
                <c:pt idx="1">
                  <c:v>good
httpx async</c:v>
                </c:pt>
                <c:pt idx="2">
                  <c:v>bridge
executor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3.046</c:v>
                </c:pt>
                <c:pt idx="1">
                  <c:v>1.04</c:v>
                </c:pt>
                <c:pt idx="2">
                  <c:v>1.039</c:v>
                </c:pt>
              </c:numCache>
            </c:numRef>
          </c:val>
        </c:ser>
        <c:dLbls>
          <c:numFmt formatCode="0.00&quot;s&quot;" sourceLinked="0"/>
          <c:txPr>
            <a:bodyPr/>
            <a:lstStyle/>
            <a:p>
              <a:pPr>
                <a:defRPr sz="13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6D8C0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1F1F24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D71920"/>
              </a:solidFill>
            </c:spPr>
          </c:dPt>
          <c:dPt>
            <c:idx val="1"/>
            <c:spPr>
              <a:solidFill>
                <a:srgbClr val="2F559A"/>
              </a:solidFill>
            </c:spPr>
          </c:dPt>
          <c:cat>
            <c:strRef>
              <c:f>Sheet1!$A$2:$A$3</c:f>
              <c:strCache>
                <c:ptCount val="2"/>
                <c:pt idx="0">
                  <c:v>bad
new engine per request</c:v>
                </c:pt>
                <c:pt idx="1">
                  <c:v>good
shared singletons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17.48</c:v>
                </c:pt>
                <c:pt idx="1">
                  <c:v>1.73</c:v>
                </c:pt>
              </c:numCache>
            </c:numRef>
          </c:val>
        </c:ser>
        <c:dLbls>
          <c:numFmt formatCode="0.00&quot; ms&quot;" sourceLinked="0"/>
          <c:txPr>
            <a:bodyPr/>
            <a:lstStyle/>
            <a:p>
              <a:pPr>
                <a:defRPr sz="13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6D8C0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1F1F24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D71920"/>
              </a:solidFill>
            </c:spPr>
          </c:dPt>
          <c:dPt>
            <c:idx val="1"/>
            <c:spPr>
              <a:solidFill>
                <a:srgbClr val="2F559A"/>
              </a:solidFill>
            </c:spPr>
          </c:dPt>
          <c:cat>
            <c:strRef>
              <c:f>Sheet1!$A$2:$A$3</c:f>
              <c:strCache>
                <c:ptCount val="2"/>
                <c:pt idx="0">
                  <c:v>bad
total time</c:v>
                </c:pt>
                <c:pt idx="1">
                  <c:v>good
total time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0.056</c:v>
                </c:pt>
                <c:pt idx="1">
                  <c:v>0.03</c:v>
                </c:pt>
              </c:numCache>
            </c:numRef>
          </c:val>
        </c:ser>
        <c:dLbls>
          <c:numFmt formatCode="0.000&quot;s&quot;" sourceLinked="0"/>
          <c:txPr>
            <a:bodyPr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6D8C0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F1F24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D71920"/>
              </a:solidFill>
            </c:spPr>
          </c:dPt>
          <c:dPt>
            <c:idx val="1"/>
            <c:spPr>
              <a:solidFill>
                <a:srgbClr val="2F559A"/>
              </a:solidFill>
            </c:spPr>
          </c:dPt>
          <c:cat>
            <c:strRef>
              <c:f>Sheet1!$A$2:$A$3</c:f>
              <c:strCache>
                <c:ptCount val="2"/>
                <c:pt idx="0">
                  <c:v>bad
req/s</c:v>
                </c:pt>
                <c:pt idx="1">
                  <c:v>good
req/s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47.8</c:v>
                </c:pt>
                <c:pt idx="1">
                  <c:v>179.3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3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6D8C0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1F1F24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0:00 — Opening. Intro (say this): You chose FastAPI for its speed, yet your production service may still be slower than the synchronous code it replaced. Today: five hidden Python-specific bottlenecks, each with the failure mode, real profiling output and a measured before/after fix from a reproducible Orders API.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0:00–2:00. A team rewrote a payment-adjacent service from Flask to FastAPI. Same logic, same team, same infra, async def everywhere. Expected faster; under real production load it was SLOWER. Single-request benchmarks looked great, production did not. Not a framework problem.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FastAPI is fast, but only if you use it correctly. The framework gives you the tools; it does not protect you from yourself. Five anti-patterns, each with real code, real profiling output and a measured before/after fix from a repo you can run tonight.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2:00–5:00. Keep it SHORT — the sibling Software-track talk covers tracing/observability. One idea only: async def is not automatically non-blocking; it is capable of yielding, and only does so at an await.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5:00–9:00. The single most common killer, and the hardest to catch in code review.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Orders API must call an external payment gateway before confirming an order — classic slow I/O. async def, but requests.get() is synchronous: it blocks the ENTIRE event loop, not just this request.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LIVE DEMO. Run bad, then good. Narrate while bad runs (~3s): it's not 3x slower per request — it's fully serialized. Fallback: numbers move with the machine, the shape doesn't — bad ~3x, good ~1x.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the asyncio-debug slide: 'asyncio will tell you this for free.' Logged only for the blocking path.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Async-native client, or run_in_executor as a migration bridge — same concurrency win while you keep the old library.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9:00–13:00. Misconfigured DI that looks clean but re-initializes heavyweight objects on every request.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Depends() is powerful, but nothing stops you building a brand-new engine or HTTP client INSIDE the dependency, on every request.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the number cold: 17.5 ms average vs 1.7 ms — ten times, from rebuilding a connection pool you already had. Optionally live-run scripts/bench_ap2_di.py (~2s).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Build once in the lifespan. Hand it out via Annotated[T, Depends(...)].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13:00–17:00. FastAPI doesn't use Django's ORM, but lazy loading bites just as hard.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LIVE DEMO: curl the bad-crash endpoint first. Let the room see a real 500 with MissingGreenlet. Don't rush it — biggest gasp of the talk.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Then bad-n1 and good — point at the echo log query counts (6 vs 2). Both return identical results: exactly the kind of bug that passes code review.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selectinload. Mention lazy='raise' as belt-and-braces at the model level — don't demo it, it would break the other two endpoints on purpose.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17:00–21:00. The one most people recognize from their own codebase.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Redundant model_dump -&gt; model_validate round-trip: common in middleware/serializer layers that grew organically.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~1.9x slower, ~1.8x more function calls — from validating the same data twice.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from_attributes=True, and the point people forget: skip Pydantic entirely for internal-only data.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21:00–25:00. Needs a process restart to switch config — say so, and show the captured real output.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Tutorial defaults. Fine on a laptop, dangerous under real concurrency: every connection is a real TCP+auth handshake and the pool is a hard ceiling.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can't toggle this live — pool size is fixed at engine start. I ran the exact load twice and I'm showing real output. Read the real traceback aloud: QueuePool limit of size 5 overflow 10 reached.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Size the pool for your real expected concurrency, pick pool_timeout deliberately, set pool_recycle so idle connections don't go stale.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25:00–27:00. One breath per item, pointing at the slide, not reading it. Every item ties to a real captured measurement in the repo.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 one of these is free, open source, and you saw all five used for real today.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27:00–30:00. Everything you saw — every number — is in this repo. Clone it, docker compose up, reproduce every measurement. None of this should be trust-me-bro. Then Q&amp;A.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1713098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45676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41178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rgbClr val="FEF5E9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FEF5E9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ora"/>
              <a:buNone/>
              <a:defRPr sz="2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ora"/>
              <a:buChar char="●"/>
              <a:defRPr sz="18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○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■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●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○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■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●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○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■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chart" Target="../charts/char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chart" Target="../charts/char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Relationship Id="rId3" Type="http://schemas.openxmlformats.org/officeDocument/2006/relationships/chart" Target="../charts/chart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800"/>
              <a:t>Why Your FastAPI Is Not Fast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Five silent killers hiding in your async code</a:t>
            </a:r>
          </a:p>
          <a:p>
            <a:r>
              <a:rPr sz="1400" b="0">
                <a:solidFill>
                  <a:srgbClr val="595959"/>
                </a:solidFill>
              </a:rPr>
              <a:t>Satyam Soni  ·  PyCon HK 2026  ·  Software Engineering &amp; Platforms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rewrote it in FastAPI. It got slower.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25880"/>
            <a:ext cx="32918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95959"/>
                </a:solidFill>
              </a:rPr>
              <a:t>BEFORE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1F24"/>
                </a:solidFill>
              </a:rPr>
              <a:t>Flask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F24"/>
                </a:solidFill>
              </a:rPr>
              <a:t>boring. synchronous. fine.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325880"/>
            <a:ext cx="35661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0" y="14173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71920"/>
                </a:solidFill>
              </a:rPr>
              <a:t>THE REWRITE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737360"/>
            <a:ext cx="3200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1F24"/>
                </a:solidFill>
              </a:rPr>
              <a:t>FastAPI</a:t>
            </a:r>
          </a:p>
          <a:p>
            <a:pPr algn="l">
              <a:spcAft>
                <a:spcPts val="200"/>
              </a:spcAft>
            </a:pPr>
            <a:r>
              <a:rPr sz="1800" b="1">
                <a:solidFill>
                  <a:srgbClr val="2F559A"/>
                </a:solidFill>
                <a:latin typeface="Courier New"/>
              </a:rPr>
              <a:t>async def</a:t>
            </a:r>
            <a:r>
              <a:rPr sz="1800" b="0">
                <a:solidFill>
                  <a:srgbClr val="1F1F24"/>
                </a:solidFill>
              </a:rPr>
              <a:t> everywhere. Surely faster?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31920" y="1828800"/>
            <a:ext cx="822960" cy="457200"/>
          </a:xfrm>
          <a:prstGeom prst="rightArrow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1F24"/>
                </a:solidFill>
              </a:rPr>
              <a:t>Single-request benchmarks: </a:t>
            </a:r>
            <a:r>
              <a:rPr sz="1800" b="1">
                <a:solidFill>
                  <a:srgbClr val="1F1F24"/>
                </a:solidFill>
              </a:rPr>
              <a:t>blazing</a:t>
            </a:r>
            <a:r>
              <a:rPr sz="1800" b="0">
                <a:solidFill>
                  <a:srgbClr val="1F1F24"/>
                </a:solidFill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1F24"/>
                </a:solidFill>
              </a:rPr>
              <a:t>Production under real load: </a:t>
            </a:r>
            <a:r>
              <a:rPr sz="1800" b="1">
                <a:solidFill>
                  <a:srgbClr val="1F1F24"/>
                </a:solidFill>
              </a:rPr>
              <a:t>slower than Flask</a:t>
            </a:r>
            <a:r>
              <a:rPr sz="1800" b="0">
                <a:solidFill>
                  <a:srgbClr val="1F1F24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FastAPI isn't slow. Your code might be.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F1F24"/>
                </a:solidFill>
                <a:latin typeface="Lora"/>
              </a:rPr>
              <a:t>Fast framework. </a:t>
            </a:r>
            <a:r>
              <a:rPr sz="2000" b="1">
                <a:solidFill>
                  <a:srgbClr val="1F1F24"/>
                </a:solidFill>
                <a:latin typeface="Lora"/>
              </a:rPr>
              <a:t>Zero guardrails.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65960"/>
            <a:ext cx="1536192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2084831"/>
            <a:ext cx="420624" cy="420624"/>
          </a:xfrm>
          <a:prstGeom prst="ellipse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651760"/>
            <a:ext cx="13167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1F24"/>
                </a:solidFill>
              </a:rPr>
              <a:t>The Loop Blocker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1965960"/>
            <a:ext cx="1536192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12848" y="2084831"/>
            <a:ext cx="420624" cy="420624"/>
          </a:xfrm>
          <a:prstGeom prst="ellipse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48" y="2651760"/>
            <a:ext cx="13167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1F24"/>
                </a:solidFill>
              </a:rPr>
              <a:t>The Per-Request Rebuild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1965960"/>
            <a:ext cx="1536192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858768" y="2084831"/>
            <a:ext cx="420624" cy="420624"/>
          </a:xfrm>
          <a:prstGeom prst="ellipse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2651760"/>
            <a:ext cx="13167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1F24"/>
                </a:solidFill>
              </a:rPr>
              <a:t>The N+1 Ambush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59" y="1965960"/>
            <a:ext cx="1536192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04688" y="2084831"/>
            <a:ext cx="420624" cy="420624"/>
          </a:xfrm>
          <a:prstGeom prst="ellipse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04688" y="2651760"/>
            <a:ext cx="13167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1F24"/>
                </a:solidFill>
              </a:rPr>
              <a:t>Validate Twice, Pay Twice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79" y="1965960"/>
            <a:ext cx="1536192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50607" y="2084831"/>
            <a:ext cx="420624" cy="420624"/>
          </a:xfrm>
          <a:prstGeom prst="ellipse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0607" y="2651760"/>
            <a:ext cx="13167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1F24"/>
                </a:solidFill>
              </a:rPr>
              <a:t>The Tiny Pool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40480"/>
            <a:ext cx="7589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</a:rPr>
              <a:t>Real code · real numbers · a fix you can ship this week.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async def is a promise, not a superpower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0233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spcAft>
                <a:spcPts val="1200"/>
              </a:spcAft>
              <a:buClr>
                <a:srgbClr val="D71920"/>
              </a:buClr>
              <a:buFont typeface="Arial"/>
              <a:buChar char="•"/>
            </a:pPr>
            <a:r>
              <a:rPr sz="1600" b="0">
                <a:solidFill>
                  <a:srgbClr val="1F1F24"/>
                </a:solidFill>
              </a:rPr>
              <a:t>One thread, one event loop. </a:t>
            </a:r>
            <a:r>
              <a:rPr sz="1600" b="1">
                <a:solidFill>
                  <a:srgbClr val="2F559A"/>
                </a:solidFill>
                <a:latin typeface="Courier New"/>
              </a:rPr>
              <a:t>await</a:t>
            </a:r>
            <a:r>
              <a:rPr sz="1600" b="0">
                <a:solidFill>
                  <a:srgbClr val="1F1F24"/>
                </a:solidFill>
              </a:rPr>
              <a:t> means </a:t>
            </a:r>
            <a:r>
              <a:rPr sz="1600" b="1">
                <a:solidFill>
                  <a:srgbClr val="1F1F24"/>
                </a:solidFill>
              </a:rPr>
              <a:t>"next!"</a:t>
            </a:r>
          </a:p>
          <a:p>
            <a:pPr algn="l" marL="256032" indent="-256032">
              <a:spcAft>
                <a:spcPts val="1200"/>
              </a:spcAft>
              <a:buClr>
                <a:srgbClr val="D71920"/>
              </a:buClr>
              <a:buFont typeface="Arial"/>
              <a:buChar char="•"/>
            </a:pPr>
            <a:r>
              <a:rPr sz="1600" b="1">
                <a:solidFill>
                  <a:srgbClr val="2F559A"/>
                </a:solidFill>
                <a:latin typeface="Courier New"/>
              </a:rPr>
              <a:t>async def</a:t>
            </a:r>
            <a:r>
              <a:rPr sz="1600" b="0">
                <a:solidFill>
                  <a:srgbClr val="1F1F24"/>
                </a:solidFill>
              </a:rPr>
              <a:t> ≠ non-blocking. It only means it </a:t>
            </a:r>
            <a:r>
              <a:rPr sz="1600" b="1">
                <a:solidFill>
                  <a:srgbClr val="1F1F24"/>
                </a:solidFill>
              </a:rPr>
              <a:t>can</a:t>
            </a:r>
            <a:r>
              <a:rPr sz="1600" b="0">
                <a:solidFill>
                  <a:srgbClr val="1F1F24"/>
                </a:solidFill>
              </a:rPr>
              <a:t> yield.</a:t>
            </a:r>
          </a:p>
          <a:p>
            <a:pPr algn="l" marL="256032" indent="-256032">
              <a:spcAft>
                <a:spcPts val="1200"/>
              </a:spcAft>
              <a:buClr>
                <a:srgbClr val="D71920"/>
              </a:buClr>
              <a:buFont typeface="Arial"/>
              <a:buChar char="•"/>
            </a:pPr>
            <a:r>
              <a:rPr sz="1600" b="0">
                <a:solidFill>
                  <a:srgbClr val="1F1F24"/>
                </a:solidFill>
              </a:rPr>
              <a:t>One sync call inside — and </a:t>
            </a:r>
            <a:r>
              <a:rPr sz="1600" b="1">
                <a:solidFill>
                  <a:srgbClr val="1F1F24"/>
                </a:solidFill>
              </a:rPr>
              <a:t>everyone</a:t>
            </a:r>
            <a:r>
              <a:rPr sz="1600" b="0">
                <a:solidFill>
                  <a:srgbClr val="1F1F24"/>
                </a:solidFill>
              </a:rPr>
              <a:t> waits.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280160"/>
            <a:ext cx="38404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13716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71920"/>
                </a:solidFill>
              </a:rPr>
              <a:t>One blocking call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691640"/>
            <a:ext cx="3474720" cy="365760"/>
          </a:xfrm>
          <a:prstGeom prst="roundRect">
            <a:avLst>
              <a:gd name="adj" fmla="val 10000"/>
            </a:avLst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691640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A hogs the loop…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10312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B and C just stand in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743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F559A"/>
                </a:solidFill>
              </a:rPr>
              <a:t>With await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3063240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2F5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3063240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18404" y="3063240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2F5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18404" y="3063240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3063240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2F5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8" y="3063240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9692" y="3063240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2F5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9692" y="3063240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0336" y="3063240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2F5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0336" y="3063240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40979" y="3063240"/>
            <a:ext cx="548640" cy="365760"/>
          </a:xfrm>
          <a:prstGeom prst="roundRect">
            <a:avLst>
              <a:gd name="adj" fmla="val 15000"/>
            </a:avLst>
          </a:prstGeom>
          <a:solidFill>
            <a:srgbClr val="2F5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0979" y="3063240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493008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everyone moves together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828800"/>
            <a:ext cx="5486400" cy="1188720"/>
          </a:xfrm>
        </p:spPr>
        <p:txBody>
          <a:bodyPr/>
          <a:lstStyle/>
          <a:p>
            <a:r>
              <a:rPr sz="3200"/>
              <a:t>The call that freezes everyone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600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D71920"/>
                </a:solidFill>
              </a:rPr>
              <a:t>ANTI-PATTERN 1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1546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</a:rPr>
              <a:t>Blocking the event loop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Looks async. Isn't.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4846320" cy="2318003"/>
          </a:xfrm>
          <a:prstGeom prst="roundRect">
            <a:avLst>
              <a:gd name="adj" fmla="val 3000"/>
            </a:avLst>
          </a:prstGeom>
          <a:solidFill>
            <a:srgbClr val="1B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408176"/>
            <a:ext cx="4572000" cy="20985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8EAF0"/>
                </a:solidFill>
                <a:latin typeface="Courier New"/>
              </a:rPr>
              <a:t>@router.get("/bad")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E8EAF0"/>
                </a:solidFill>
                <a:latin typeface="Courier New"/>
              </a:rPr>
              <a:t>async def blocking_call():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8A8F"/>
                </a:solidFill>
                <a:latin typeface="Courier New"/>
              </a:rPr>
              <a:t>    resp = requests.get(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8A8F"/>
                </a:solidFill>
                <a:latin typeface="Courier New"/>
              </a:rPr>
              <a:t>        f"{GATEWAY_URL}/delay/1",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8A8F"/>
                </a:solidFill>
                <a:latin typeface="Courier New"/>
              </a:rPr>
              <a:t>        timeout=10,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FF8A8F"/>
                </a:solidFill>
                <a:latin typeface="Courier New"/>
              </a:rPr>
              <a:t>    )   # sync call inside async def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E8EAF0"/>
                </a:solidFill>
                <a:latin typeface="Courier New"/>
              </a:rPr>
              <a:t>    return {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E8EAF0"/>
                </a:solidFill>
                <a:latin typeface="Courier New"/>
              </a:rPr>
              <a:t>        "gateway_status": resp.status_code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E8EAF0"/>
                </a:solidFill>
                <a:latin typeface="Courier New"/>
              </a:rPr>
              <a:t>    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1152143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BAD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280160"/>
            <a:ext cx="30175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2F559A"/>
                </a:solidFill>
                <a:latin typeface="Courier New"/>
              </a:rPr>
              <a:t>requests.get()</a:t>
            </a:r>
            <a:r>
              <a:rPr sz="1600" b="0">
                <a:solidFill>
                  <a:srgbClr val="1F1F24"/>
                </a:solidFill>
              </a:rPr>
              <a:t> never yields.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1F24"/>
                </a:solidFill>
              </a:rPr>
              <a:t>The </a:t>
            </a:r>
            <a:r>
              <a:rPr sz="1600" b="1">
                <a:solidFill>
                  <a:srgbClr val="1F1F24"/>
                </a:solidFill>
              </a:rPr>
              <a:t>whole loop</a:t>
            </a:r>
            <a:r>
              <a:rPr sz="1600" b="0">
                <a:solidFill>
                  <a:srgbClr val="1F1F24"/>
                </a:solidFill>
              </a:rPr>
              <a:t> freezes — not just this request.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demo: 3 requests, 1 slow call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4297680" cy="1566545"/>
          </a:xfrm>
          <a:prstGeom prst="roundRect">
            <a:avLst>
              <a:gd name="adj" fmla="val 3000"/>
            </a:avLst>
          </a:prstGeom>
          <a:solidFill>
            <a:srgbClr val="1B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408176"/>
            <a:ext cx="4023360" cy="1347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9AA3B8"/>
                </a:solidFill>
                <a:latin typeface="Courier New"/>
              </a:rPr>
              <a:t>3 concurrent requests, 1s gateway</a:t>
            </a:r>
          </a:p>
          <a:p>
            <a:pPr algn="l">
              <a:spcAft>
                <a:spcPts val="0"/>
              </a:spcAft>
            </a:pPr>
            <a:r>
              <a:rPr sz="1550" b="0">
                <a:solidFill>
                  <a:srgbClr val="E8EAF0"/>
                </a:solidFill>
                <a:latin typeface="Courier New"/>
              </a:rPr>
              <a:t>time (for i in 1 2 3; do</a:t>
            </a:r>
          </a:p>
          <a:p>
            <a:pPr algn="l">
              <a:spcAft>
                <a:spcPts val="0"/>
              </a:spcAft>
            </a:pPr>
            <a:r>
              <a:rPr sz="1550" b="0">
                <a:solidFill>
                  <a:srgbClr val="E8EAF0"/>
                </a:solidFill>
                <a:latin typeface="Courier New"/>
              </a:rPr>
              <a:t>  curl -s -o /dev/null \</a:t>
            </a:r>
          </a:p>
          <a:p>
            <a:pPr algn="l">
              <a:spcAft>
                <a:spcPts val="0"/>
              </a:spcAft>
            </a:pPr>
            <a:r>
              <a:rPr sz="1550" b="0">
                <a:solidFill>
                  <a:srgbClr val="E8EAF0"/>
                </a:solidFill>
                <a:latin typeface="Courier New"/>
              </a:rPr>
              <a:t>    $URL/demo/ap1/bad &amp;</a:t>
            </a:r>
          </a:p>
          <a:p>
            <a:pPr algn="l">
              <a:spcAft>
                <a:spcPts val="0"/>
              </a:spcAft>
            </a:pPr>
            <a:r>
              <a:rPr sz="1550" b="0">
                <a:solidFill>
                  <a:srgbClr val="E8EAF0"/>
                </a:solidFill>
                <a:latin typeface="Courier New"/>
              </a:rPr>
              <a:t>done; wait)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29000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</a:rPr>
              <a:t>Same command against </a:t>
            </a:r>
            <a:r>
              <a:rPr sz="1400" b="1">
                <a:solidFill>
                  <a:srgbClr val="595959"/>
                </a:solidFill>
                <a:latin typeface="Courier New"/>
              </a:rPr>
              <a:t>/good</a:t>
            </a:r>
            <a:r>
              <a:rPr sz="1400" b="0">
                <a:solidFill>
                  <a:srgbClr val="595959"/>
                </a:solidFill>
              </a:rPr>
              <a:t> and </a:t>
            </a:r>
            <a:r>
              <a:rPr sz="1400" b="1">
                <a:solidFill>
                  <a:srgbClr val="595959"/>
                </a:solidFill>
                <a:latin typeface="Courier New"/>
              </a:rPr>
              <a:t>/bridge</a:t>
            </a:r>
            <a:r>
              <a:rPr sz="1400" b="0">
                <a:solidFill>
                  <a:srgbClr val="595959"/>
                </a:solidFill>
              </a:rPr>
              <a:t>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937760" y="1188720"/>
          <a:ext cx="3749039" cy="2926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asyncio snitches on you — for free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8138160" cy="830580"/>
          </a:xfrm>
          <a:prstGeom prst="roundRect">
            <a:avLst>
              <a:gd name="adj" fmla="val 3000"/>
            </a:avLst>
          </a:prstGeom>
          <a:solidFill>
            <a:srgbClr val="1B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408176"/>
            <a:ext cx="7863840" cy="6111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8EAF0"/>
                </a:solidFill>
                <a:latin typeface="Courier New"/>
              </a:rPr>
              <a:t>$ PYTHONASYNCIODEBUG=1 uv run python scripts/asyncio_debug_demo.py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FF8A8F"/>
                </a:solidFill>
                <a:latin typeface="Courier New"/>
              </a:rPr>
              <a:t>WARNING:asyncio:Executing &lt;Task ...&gt; took 1.056 seconds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80360"/>
            <a:ext cx="81381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971800"/>
            <a:ext cx="7680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1F24"/>
                </a:solidFill>
              </a:rPr>
              <a:t>Only the blocking path gets flagged.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1F24"/>
                </a:solidFill>
              </a:rPr>
              <a:t>Debug mode names the exact task that hogged the loop. Zero extra tooling.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fix: await, don't block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4846320" cy="1721484"/>
          </a:xfrm>
          <a:prstGeom prst="roundRect">
            <a:avLst>
              <a:gd name="adj" fmla="val 3000"/>
            </a:avLst>
          </a:prstGeom>
          <a:solidFill>
            <a:srgbClr val="1B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408176"/>
            <a:ext cx="4572000" cy="15020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8EAF0"/>
                </a:solidFill>
                <a:latin typeface="Courier New"/>
              </a:rPr>
              <a:t>@router.get("/good")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E8EAF0"/>
                </a:solidFill>
                <a:latin typeface="Courier New"/>
              </a:rPr>
              <a:t>async def async_call(request: Request):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E8EAF0"/>
                </a:solidFill>
                <a:latin typeface="Courier New"/>
              </a:rPr>
              <a:t>    client = request.app.state.http_client</a:t>
            </a:r>
          </a:p>
          <a:p>
            <a:pPr algn="l">
              <a:spcAft>
                <a:spcPts val="0"/>
              </a:spcAft>
            </a:pPr>
            <a:r>
              <a:rPr sz="1250" b="1">
                <a:solidFill>
                  <a:srgbClr val="8BD5A0"/>
                </a:solidFill>
                <a:latin typeface="Courier New"/>
              </a:rPr>
              <a:t>    resp = await client.get(</a:t>
            </a:r>
          </a:p>
          <a:p>
            <a:pPr algn="l">
              <a:spcAft>
                <a:spcPts val="0"/>
              </a:spcAft>
            </a:pPr>
            <a:r>
              <a:rPr sz="1250" b="1">
                <a:solidFill>
                  <a:srgbClr val="8BD5A0"/>
                </a:solidFill>
                <a:latin typeface="Courier New"/>
              </a:rPr>
              <a:t>        f"{GATEWAY_URL}/delay/1"</a:t>
            </a:r>
          </a:p>
          <a:p>
            <a:pPr algn="l">
              <a:spcAft>
                <a:spcPts val="0"/>
              </a:spcAft>
            </a:pPr>
            <a:r>
              <a:rPr sz="1250" b="1">
                <a:solidFill>
                  <a:srgbClr val="8BD5A0"/>
                </a:solidFill>
                <a:latin typeface="Courier New"/>
              </a:rPr>
              <a:t>    )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E8EAF0"/>
                </a:solidFill>
                <a:latin typeface="Courier New"/>
              </a:rPr>
              <a:t>    return {"gateway_status": resp.status_code}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1152143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GOOD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280160"/>
            <a:ext cx="30175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0" y="1325880"/>
            <a:ext cx="2743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1F24"/>
                </a:solidFill>
              </a:rPr>
              <a:t>Go async-native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F559A"/>
                </a:solidFill>
                <a:latin typeface="Courier New"/>
              </a:rPr>
              <a:t>httpx</a:t>
            </a:r>
            <a:r>
              <a:rPr sz="1400" b="0">
                <a:solidFill>
                  <a:srgbClr val="1F1F24"/>
                </a:solidFill>
              </a:rPr>
              <a:t>, </a:t>
            </a:r>
            <a:r>
              <a:rPr sz="1400" b="1">
                <a:solidFill>
                  <a:srgbClr val="2F559A"/>
                </a:solidFill>
                <a:latin typeface="Courier New"/>
              </a:rPr>
              <a:t>asyncpg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2514600"/>
            <a:ext cx="30175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0" y="2560320"/>
            <a:ext cx="27432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1F24"/>
                </a:solidFill>
              </a:rPr>
              <a:t>Can't rewrite yet?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F559A"/>
                </a:solidFill>
                <a:latin typeface="Courier New"/>
              </a:rPr>
              <a:t>run_in_executor</a:t>
            </a:r>
            <a:r>
              <a:rPr sz="1400" b="0">
                <a:solidFill>
                  <a:srgbClr val="1F1F24"/>
                </a:solidFill>
              </a:rPr>
              <a:t> buys you time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828800"/>
            <a:ext cx="5486400" cy="1188720"/>
          </a:xfrm>
        </p:spPr>
        <p:txBody>
          <a:bodyPr/>
          <a:lstStyle/>
          <a:p>
            <a:r>
              <a:rPr sz="3200"/>
              <a:t>Rebuilding the world on every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600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D71920"/>
                </a:solidFill>
              </a:rPr>
              <a:t>ANTI-PATTERN 2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1546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</a:rPr>
              <a:t>Dependency injection lifecycle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engine. New pool. Every request.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120640" cy="1334134"/>
          </a:xfrm>
          <a:prstGeom prst="roundRect">
            <a:avLst>
              <a:gd name="adj" fmla="val 3000"/>
            </a:avLst>
          </a:prstGeom>
          <a:solidFill>
            <a:srgbClr val="1B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408176"/>
            <a:ext cx="4846320" cy="11146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8EAF0"/>
                </a:solidFill>
                <a:latin typeface="Courier New"/>
              </a:rPr>
              <a:t>async def get_bad_db_session():</a:t>
            </a:r>
          </a:p>
          <a:p>
            <a:pPr algn="l">
              <a:spcAft>
                <a:spcPts val="0"/>
              </a:spcAft>
            </a:pPr>
            <a:r>
              <a:rPr sz="1250" b="1">
                <a:solidFill>
                  <a:srgbClr val="FF8A8F"/>
                </a:solidFill>
                <a:latin typeface="Courier New"/>
              </a:rPr>
              <a:t>    engine = build_engine(get_settings())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E8EAF0"/>
                </a:solidFill>
                <a:latin typeface="Courier New"/>
              </a:rPr>
              <a:t>    async with build_sessionmaker(engine)() as s: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E8EAF0"/>
                </a:solidFill>
                <a:latin typeface="Courier New"/>
              </a:rPr>
              <a:t>        yield s</a:t>
            </a:r>
          </a:p>
          <a:p>
            <a:pPr algn="l">
              <a:spcAft>
                <a:spcPts val="0"/>
              </a:spcAft>
            </a:pPr>
            <a:r>
              <a:rPr sz="1250" b="1">
                <a:solidFill>
                  <a:srgbClr val="FF8A8F"/>
                </a:solidFill>
                <a:latin typeface="Courier New"/>
              </a:rPr>
              <a:t>    await engine.dispose()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152143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BAD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1280160"/>
            <a:ext cx="2743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F1F24"/>
                </a:solidFill>
              </a:rPr>
              <a:t>Fresh engine.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1F1F24"/>
                </a:solidFill>
              </a:rPr>
              <a:t>Fresh pool.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1F1F24"/>
                </a:solidFill>
              </a:rPr>
              <a:t>Fresh TCP handshake.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F1F24"/>
                </a:solidFill>
              </a:rPr>
              <a:t>Every. Single. Request.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ms → 1.7 ms by building once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4206240" cy="2926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029200" y="1280160"/>
            <a:ext cx="35661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0" y="1353312"/>
            <a:ext cx="3383279" cy="6537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D71920"/>
                </a:solidFill>
                <a:latin typeface="Lora"/>
              </a:rPr>
              <a:t>~10×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38928" y="1969617"/>
            <a:ext cx="334670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slower — from rebuilding what you already had (+15.74 ms/request)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0" y="2697480"/>
          <a:ext cx="3566160" cy="1042416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371600"/>
                <a:gridCol w="731520"/>
                <a:gridCol w="731520"/>
                <a:gridCol w="73152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73152" marR="73152" marT="27432" marB="27432" anchor="ctr">
                    <a:solidFill>
                      <a:srgbClr val="2F55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mean</a:t>
                      </a:r>
                    </a:p>
                  </a:txBody>
                  <a:tcPr marL="73152" marR="73152" marT="27432" marB="27432" anchor="ctr">
                    <a:solidFill>
                      <a:srgbClr val="2F55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p50</a:t>
                      </a:r>
                    </a:p>
                  </a:txBody>
                  <a:tcPr marL="73152" marR="73152" marT="27432" marB="27432" anchor="ctr">
                    <a:solidFill>
                      <a:srgbClr val="2F55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p95</a:t>
                      </a:r>
                    </a:p>
                  </a:txBody>
                  <a:tcPr marL="73152" marR="73152" marT="27432" marB="27432" anchor="ctr">
                    <a:solidFill>
                      <a:srgbClr val="2F559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24"/>
                          </a:solidFill>
                        </a:rPr>
                        <a:t>bad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24"/>
                          </a:solidFill>
                        </a:rPr>
                        <a:t>17.48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24"/>
                          </a:solidFill>
                        </a:rPr>
                        <a:t>16.82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24"/>
                          </a:solidFill>
                        </a:rPr>
                        <a:t>19.52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24"/>
                          </a:solidFill>
                        </a:rPr>
                        <a:t>good</a:t>
                      </a:r>
                    </a:p>
                  </a:txBody>
                  <a:tcPr marL="73152" marR="73152" marT="27432" marB="27432" anchor="ctr">
                    <a:solidFill>
                      <a:srgbClr val="FBE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24"/>
                          </a:solidFill>
                        </a:rPr>
                        <a:t>1.73</a:t>
                      </a:r>
                    </a:p>
                  </a:txBody>
                  <a:tcPr marL="73152" marR="73152" marT="27432" marB="27432" anchor="ctr">
                    <a:solidFill>
                      <a:srgbClr val="FBE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24"/>
                          </a:solidFill>
                        </a:rPr>
                        <a:t>1.59</a:t>
                      </a:r>
                    </a:p>
                  </a:txBody>
                  <a:tcPr marL="73152" marR="73152" marT="27432" marB="27432" anchor="ctr">
                    <a:solidFill>
                      <a:srgbClr val="FBE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24"/>
                          </a:solidFill>
                        </a:rPr>
                        <a:t>2.56</a:t>
                      </a:r>
                    </a:p>
                  </a:txBody>
                  <a:tcPr marL="73152" marR="73152" marT="27432" marB="27432" anchor="ctr">
                    <a:solidFill>
                      <a:srgbClr val="FBECD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0" y="384048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</a:rPr>
              <a:t>milliseconds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fix: build once, borrow forever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120640" cy="2651760"/>
          </a:xfrm>
          <a:prstGeom prst="roundRect">
            <a:avLst>
              <a:gd name="adj" fmla="val 3000"/>
            </a:avLst>
          </a:prstGeom>
          <a:solidFill>
            <a:srgbClr val="1B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408176"/>
            <a:ext cx="4846320" cy="2432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8EAF0"/>
                </a:solidFill>
                <a:latin typeface="Courier New"/>
              </a:rPr>
              <a:t>@asynccontextmanager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E8EAF0"/>
                </a:solidFill>
                <a:latin typeface="Courier New"/>
              </a:rPr>
              <a:t>async def lifespan(app: FastAPI):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8BD5A0"/>
                </a:solidFill>
                <a:latin typeface="Courier New"/>
              </a:rPr>
              <a:t>    engine = build_engine(get_settings())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8BD5A0"/>
                </a:solidFill>
                <a:latin typeface="Courier New"/>
              </a:rPr>
              <a:t>    app.state.sessionmaker = \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8BD5A0"/>
                </a:solidFill>
                <a:latin typeface="Courier New"/>
              </a:rPr>
              <a:t>        build_sessionmaker(engine)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8BD5A0"/>
                </a:solidFill>
                <a:latin typeface="Courier New"/>
              </a:rPr>
              <a:t>    app.state.http_client = httpx.AsyncClient()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E8EAF0"/>
                </a:solidFill>
                <a:latin typeface="Courier New"/>
              </a:rPr>
              <a:t>    yield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E8EAF0"/>
                </a:solidFill>
                <a:latin typeface="Courier New"/>
              </a:rPr>
              <a:t>    await app.state.http_client.aclose()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E8EAF0"/>
                </a:solidFill>
                <a:latin typeface="Courier New"/>
              </a:rPr>
              <a:t>    await engine.dispose()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E8EAF0"/>
                </a:solidFill>
                <a:latin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E8EAF0"/>
                </a:solidFill>
                <a:latin typeface="Courier New"/>
              </a:rPr>
              <a:t>async def get_session(request: Request):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E8EAF0"/>
                </a:solidFill>
                <a:latin typeface="Courier New"/>
              </a:rPr>
              <a:t>    async with request.app.state.sessionmaker() as s: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E8EAF0"/>
                </a:solidFill>
                <a:latin typeface="Courier New"/>
              </a:rPr>
              <a:t>        yield 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152143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GOOD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1280160"/>
            <a:ext cx="27432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1F24"/>
                </a:solidFill>
              </a:rPr>
              <a:t>Build </a:t>
            </a:r>
            <a:r>
              <a:rPr sz="1600" b="1">
                <a:solidFill>
                  <a:srgbClr val="1F1F24"/>
                </a:solidFill>
              </a:rPr>
              <a:t>once</a:t>
            </a:r>
            <a:r>
              <a:rPr sz="1600" b="0">
                <a:solidFill>
                  <a:srgbClr val="1F1F24"/>
                </a:solidFill>
              </a:rPr>
              <a:t> in the lifespan.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1F24"/>
                </a:solidFill>
              </a:rPr>
              <a:t>Lend it out with </a:t>
            </a:r>
            <a:r>
              <a:rPr sz="1600" b="1">
                <a:solidFill>
                  <a:srgbClr val="2F559A"/>
                </a:solidFill>
                <a:latin typeface="Courier New"/>
              </a:rPr>
              <a:t>Annotated[T, Depends(...)]</a:t>
            </a:r>
            <a:r>
              <a:rPr sz="1600" b="0">
                <a:solidFill>
                  <a:srgbClr val="1F1F24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828800"/>
            <a:ext cx="5486400" cy="1188720"/>
          </a:xfrm>
        </p:spPr>
        <p:txBody>
          <a:bodyPr/>
          <a:lstStyle/>
          <a:p>
            <a:r>
              <a:rPr sz="3200"/>
              <a:t>The lazy-loading ambush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600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D71920"/>
                </a:solidFill>
              </a:rPr>
              <a:t>ANTI-PATTERN 3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1546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</a:rPr>
              <a:t>SQLAlchemy lazy loading in async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Boom: MissingGreenlet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4572000" cy="946785"/>
          </a:xfrm>
          <a:prstGeom prst="roundRect">
            <a:avLst>
              <a:gd name="adj" fmla="val 3000"/>
            </a:avLst>
          </a:prstGeom>
          <a:solidFill>
            <a:srgbClr val="1B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408176"/>
            <a:ext cx="4297680" cy="7273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8EAF0"/>
                </a:solidFill>
                <a:latin typeface="Courier New"/>
              </a:rPr>
              <a:t>orders = (await session.execute(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E8EAF0"/>
                </a:solidFill>
                <a:latin typeface="Courier New"/>
              </a:rPr>
              <a:t>    select(Order).limit(3))).scalars().all()</a:t>
            </a:r>
          </a:p>
          <a:p>
            <a:pPr algn="l">
              <a:spcAft>
                <a:spcPts val="0"/>
              </a:spcAft>
            </a:pPr>
            <a:r>
              <a:rPr sz="1250" b="1">
                <a:solidFill>
                  <a:srgbClr val="FF8A8F"/>
                </a:solidFill>
                <a:latin typeface="Courier New"/>
              </a:rPr>
              <a:t>counts = [len(o.items) for o in orders]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86200" y="1152143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BAD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834640"/>
            <a:ext cx="8138160" cy="993267"/>
          </a:xfrm>
          <a:prstGeom prst="roundRect">
            <a:avLst>
              <a:gd name="adj" fmla="val 3000"/>
            </a:avLst>
          </a:prstGeom>
          <a:solidFill>
            <a:srgbClr val="1B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962656"/>
            <a:ext cx="7863840" cy="7738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F8A8F"/>
                </a:solidFill>
                <a:latin typeface="Courier New"/>
              </a:rPr>
              <a:t>{"error_type": "MissingGreenlet",</a:t>
            </a:r>
          </a:p>
          <a:p>
            <a:pPr algn="l">
              <a:spcAft>
                <a:spcPts val="0"/>
              </a:spcAft>
            </a:pPr>
            <a:r>
              <a:rPr sz="1350" b="1">
                <a:solidFill>
                  <a:srgbClr val="FF8A8F"/>
                </a:solidFill>
                <a:latin typeface="Courier New"/>
              </a:rPr>
              <a:t> "error": "greenlet_spawn has not been called; can't call</a:t>
            </a:r>
          </a:p>
          <a:p>
            <a:pPr algn="l">
              <a:spcAft>
                <a:spcPts val="0"/>
              </a:spcAft>
            </a:pPr>
            <a:r>
              <a:rPr sz="1350" b="1">
                <a:solidFill>
                  <a:srgbClr val="FF8A8F"/>
                </a:solidFill>
                <a:latin typeface="Courier New"/>
              </a:rPr>
              <a:t>            await_only() here. Was IO attempted in an unexpected place?"}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280160"/>
            <a:ext cx="3291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595959"/>
                </a:solidFill>
              </a:rPr>
              <a:t>A real 500, captured from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595959"/>
                </a:solidFill>
                <a:latin typeface="Courier New"/>
              </a:rPr>
              <a:t>/demo/ap3/bad-crash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95959"/>
                </a:solidFill>
              </a:rPr>
              <a:t>— not a constructed example.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Worse: it works… with 6 queries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4206240" cy="706628"/>
          </a:xfrm>
          <a:prstGeom prst="roundRect">
            <a:avLst>
              <a:gd name="adj" fmla="val 3000"/>
            </a:avLst>
          </a:prstGeom>
          <a:solidFill>
            <a:srgbClr val="1B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408176"/>
            <a:ext cx="3931920" cy="4871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E8EAF0"/>
                </a:solidFill>
                <a:latin typeface="Courier New"/>
              </a:rPr>
              <a:t>for order in orders: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FF8A8F"/>
                </a:solidFill>
                <a:latin typeface="Courier New"/>
              </a:rPr>
              <a:t>    items = await order.awaitable_attrs.items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39" y="1152143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BAD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4206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F1F24"/>
                </a:solidFill>
              </a:rPr>
              <a:t>Same results. Silent N+1. Sails through code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280160"/>
            <a:ext cx="17373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353312"/>
            <a:ext cx="1554480" cy="9555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>
                <a:solidFill>
                  <a:srgbClr val="D71920"/>
                </a:solidFill>
                <a:latin typeface="Lora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7488" y="2287828"/>
            <a:ext cx="1517904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queries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lazy 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280160"/>
            <a:ext cx="17373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353312"/>
            <a:ext cx="1554480" cy="9555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>
                <a:solidFill>
                  <a:srgbClr val="2F559A"/>
                </a:solidFill>
                <a:latin typeface="Lor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2287828"/>
            <a:ext cx="1517904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queries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selectinload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200400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Real </a:t>
            </a:r>
            <a:r>
              <a:rPr sz="1200" b="1">
                <a:solidFill>
                  <a:srgbClr val="595959"/>
                </a:solidFill>
                <a:latin typeface="Courier New"/>
              </a:rPr>
              <a:t>echo=True</a:t>
            </a:r>
            <a:r>
              <a:rPr sz="1200" b="0">
                <a:solidFill>
                  <a:srgbClr val="595959"/>
                </a:solidFill>
              </a:rPr>
              <a:t> log, 5 orders: 1 + 5 queries vs 1 + 1 batched </a:t>
            </a:r>
            <a:r>
              <a:rPr sz="1200" b="1">
                <a:solidFill>
                  <a:srgbClr val="595959"/>
                </a:solidFill>
                <a:latin typeface="Courier New"/>
              </a:rPr>
              <a:t>IN (...)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fix: load it up front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4846320" cy="1371600"/>
          </a:xfrm>
          <a:prstGeom prst="roundRect">
            <a:avLst>
              <a:gd name="adj" fmla="val 3000"/>
            </a:avLst>
          </a:prstGeom>
          <a:solidFill>
            <a:srgbClr val="1B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408176"/>
            <a:ext cx="4572000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E8EAF0"/>
                </a:solidFill>
                <a:latin typeface="Courier New"/>
              </a:rPr>
              <a:t>result = await session.execute(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E8EAF0"/>
                </a:solidFill>
                <a:latin typeface="Courier New"/>
              </a:rPr>
              <a:t>    select(Order)</a:t>
            </a:r>
          </a:p>
          <a:p>
            <a:pPr algn="l">
              <a:spcAft>
                <a:spcPts val="0"/>
              </a:spcAft>
            </a:pPr>
            <a:r>
              <a:rPr sz="1350" b="1">
                <a:solidFill>
                  <a:srgbClr val="8BD5A0"/>
                </a:solidFill>
                <a:latin typeface="Courier New"/>
              </a:rPr>
              <a:t>        .options(selectinload(Order.items))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E8EAF0"/>
                </a:solidFill>
                <a:latin typeface="Courier New"/>
              </a:rPr>
              <a:t>        .limit(limit)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E8EAF0"/>
                </a:solidFill>
                <a:latin typeface="Courier New"/>
              </a:rPr>
              <a:t>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1152143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GOOD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280160"/>
            <a:ext cx="3017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1F24"/>
                </a:solidFill>
              </a:rPr>
              <a:t>Eager-load</a:t>
            </a:r>
            <a:r>
              <a:rPr sz="1600" b="0">
                <a:solidFill>
                  <a:srgbClr val="1F1F24"/>
                </a:solidFill>
              </a:rPr>
              <a:t> with the parent query.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26080"/>
            <a:ext cx="81381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77724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1F24"/>
                </a:solidFill>
              </a:rPr>
              <a:t>Safety net: </a:t>
            </a:r>
            <a:r>
              <a:rPr sz="1400" b="1">
                <a:solidFill>
                  <a:srgbClr val="2F559A"/>
                </a:solidFill>
                <a:latin typeface="Courier New"/>
              </a:rPr>
              <a:t>lazy="raise"</a:t>
            </a:r>
            <a:r>
              <a:rPr sz="1400" b="0">
                <a:solidFill>
                  <a:srgbClr val="1F1F24"/>
                </a:solidFill>
              </a:rPr>
              <a:t> on the relationship.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1F24"/>
                </a:solidFill>
              </a:rPr>
              <a:t>Accidental lazy touch? Fails loudly in dev — not silently in prod.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828800"/>
            <a:ext cx="5486400" cy="1188720"/>
          </a:xfrm>
        </p:spPr>
        <p:txBody>
          <a:bodyPr/>
          <a:lstStyle/>
          <a:p>
            <a:r>
              <a:rPr sz="3200"/>
              <a:t>Validating the same data twice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600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D71920"/>
                </a:solidFill>
              </a:rPr>
              <a:t>ANTI-PATTERN 4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1546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</a:rPr>
              <a:t>Pydantic validation overhead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Validate it twice, pay for it twice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212080" cy="1481328"/>
          </a:xfrm>
          <a:prstGeom prst="roundRect">
            <a:avLst>
              <a:gd name="adj" fmla="val 3000"/>
            </a:avLst>
          </a:prstGeom>
          <a:solidFill>
            <a:srgbClr val="1B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408176"/>
            <a:ext cx="4937760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8EAF0"/>
                </a:solidFill>
                <a:latin typeface="Courier New"/>
              </a:rPr>
              <a:t>def bad_transform(order) -&gt; dict: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8EAF0"/>
                </a:solidFill>
                <a:latin typeface="Courier New"/>
              </a:rPr>
              <a:t>    raw = {"id": str(order.id), ...}  # manual dict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8EAF0"/>
                </a:solidFill>
                <a:latin typeface="Courier New"/>
              </a:rPr>
              <a:t>    v = BadOrder.model_validate(raw)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FF8A8F"/>
                </a:solidFill>
                <a:latin typeface="Courier New"/>
              </a:rPr>
              <a:t>    d = v.model_dump()                # round-trip 1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FF8A8F"/>
                </a:solidFill>
                <a:latin typeface="Courier New"/>
              </a:rPr>
              <a:t>    r = BadOrder.model_validate(d)    # round-trip 2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8EAF0"/>
                </a:solidFill>
                <a:latin typeface="Courier New"/>
              </a:rPr>
              <a:t>    return r.model_dump()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152143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BAD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280160"/>
            <a:ext cx="26517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1F24"/>
                </a:solidFill>
              </a:rPr>
              <a:t>Nested models + validator chains + one sneaky dump → validate round-trip.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Same data. ~1.9× slower.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3931920" cy="2926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663440" y="1280160"/>
            <a:ext cx="39319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79" y="1353312"/>
            <a:ext cx="3749039" cy="6537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D71920"/>
                </a:solidFill>
                <a:latin typeface="Lora"/>
              </a:rPr>
              <a:t>~1.9× slower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73168" y="1969617"/>
            <a:ext cx="371246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cProfile, 200 orders × 20 — validated twice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663440" y="2697480"/>
          <a:ext cx="3931920" cy="109728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097280"/>
                <a:gridCol w="1417320"/>
                <a:gridCol w="141732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73152" marR="73152" marT="27432" marB="27432" anchor="ctr">
                    <a:solidFill>
                      <a:srgbClr val="2F55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total time</a:t>
                      </a:r>
                    </a:p>
                  </a:txBody>
                  <a:tcPr marL="73152" marR="73152" marT="27432" marB="27432" anchor="ctr">
                    <a:solidFill>
                      <a:srgbClr val="2F55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function calls</a:t>
                      </a:r>
                    </a:p>
                  </a:txBody>
                  <a:tcPr marL="73152" marR="73152" marT="27432" marB="27432" anchor="ctr">
                    <a:solidFill>
                      <a:srgbClr val="2F559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24"/>
                          </a:solidFill>
                        </a:rPr>
                        <a:t>bad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24"/>
                          </a:solidFill>
                        </a:rPr>
                        <a:t>0.056 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24"/>
                          </a:solidFill>
                        </a:rPr>
                        <a:t>204,481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24"/>
                          </a:solidFill>
                        </a:rPr>
                        <a:t>good</a:t>
                      </a:r>
                    </a:p>
                  </a:txBody>
                  <a:tcPr marL="73152" marR="73152" marT="27432" marB="27432" anchor="ctr">
                    <a:solidFill>
                      <a:srgbClr val="FBE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24"/>
                          </a:solidFill>
                        </a:rPr>
                        <a:t>0.030 s</a:t>
                      </a:r>
                    </a:p>
                  </a:txBody>
                  <a:tcPr marL="73152" marR="73152" marT="27432" marB="27432" anchor="ctr">
                    <a:solidFill>
                      <a:srgbClr val="FBE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1F24"/>
                          </a:solidFill>
                        </a:rPr>
                        <a:t>116,463</a:t>
                      </a:r>
                    </a:p>
                  </a:txBody>
                  <a:tcPr marL="73152" marR="73152" marT="27432" marB="27432" anchor="ctr">
                    <a:solidFill>
                      <a:srgbClr val="FBECD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fix: validate once, from the source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029200" cy="1853184"/>
          </a:xfrm>
          <a:prstGeom prst="roundRect">
            <a:avLst>
              <a:gd name="adj" fmla="val 3000"/>
            </a:avLst>
          </a:prstGeom>
          <a:solidFill>
            <a:srgbClr val="1B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408176"/>
            <a:ext cx="4754880" cy="1633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8EAF0"/>
                </a:solidFill>
                <a:latin typeface="Courier New"/>
              </a:rPr>
              <a:t>class GoodOrder(BaseModel):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8BD5A0"/>
                </a:solidFill>
                <a:latin typeface="Courier New"/>
              </a:rPr>
              <a:t>    model_config = ConfigDict(from_attributes=True)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8EAF0"/>
                </a:solidFill>
                <a:latin typeface="Courier New"/>
              </a:rPr>
              <a:t>    id: uuid.UUID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8EAF0"/>
                </a:solidFill>
                <a:latin typeface="Courier New"/>
              </a:rPr>
              <a:t>    items: list[GoodOrderItem]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8EAF0"/>
                </a:solidFill>
                <a:latin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8EAF0"/>
                </a:solidFill>
                <a:latin typeface="Courier New"/>
              </a:rPr>
              <a:t>def good_transform(order) -&gt; dict: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8BD5A0"/>
                </a:solidFill>
                <a:latin typeface="Courier New"/>
              </a:rPr>
              <a:t>    return GoodOrder.model_validate(order) \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8BD5A0"/>
                </a:solidFill>
                <a:latin typeface="Courier New"/>
              </a:rPr>
              <a:t>        .model_dump(mode="json")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152143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GOOD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280160"/>
            <a:ext cx="283464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spcAft>
                <a:spcPts val="1000"/>
              </a:spcAft>
              <a:buClr>
                <a:srgbClr val="D71920"/>
              </a:buClr>
              <a:buFont typeface="Arial"/>
              <a:buChar char="•"/>
            </a:pPr>
            <a:r>
              <a:rPr sz="1400" b="1">
                <a:solidFill>
                  <a:srgbClr val="2F559A"/>
                </a:solidFill>
                <a:latin typeface="Courier New"/>
              </a:rPr>
              <a:t>from_attributes=True</a:t>
            </a:r>
            <a:r>
              <a:rPr sz="1400" b="0">
                <a:solidFill>
                  <a:srgbClr val="1F1F24"/>
                </a:solidFill>
              </a:rPr>
              <a:t> — read straight from the ORM object.</a:t>
            </a:r>
          </a:p>
          <a:p>
            <a:pPr algn="l" marL="256032" indent="-256032">
              <a:spcAft>
                <a:spcPts val="1000"/>
              </a:spcAft>
              <a:buClr>
                <a:srgbClr val="D71920"/>
              </a:buClr>
              <a:buFont typeface="Arial"/>
              <a:buChar char="•"/>
            </a:pPr>
            <a:r>
              <a:rPr sz="1400" b="0">
                <a:solidFill>
                  <a:srgbClr val="1F1F24"/>
                </a:solidFill>
              </a:rPr>
              <a:t>Data never leaves the process? Skip Pydantic. A </a:t>
            </a:r>
            <a:r>
              <a:rPr sz="1400" b="1">
                <a:solidFill>
                  <a:srgbClr val="2F559A"/>
                </a:solidFill>
                <a:latin typeface="Courier New"/>
              </a:rPr>
              <a:t>dataclass</a:t>
            </a:r>
            <a:r>
              <a:rPr sz="1400" b="0">
                <a:solidFill>
                  <a:srgbClr val="1F1F24"/>
                </a:solidFill>
              </a:rPr>
              <a:t> will do.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828800"/>
            <a:ext cx="5486400" cy="1188720"/>
          </a:xfrm>
        </p:spPr>
        <p:txBody>
          <a:bodyPr/>
          <a:lstStyle/>
          <a:p>
            <a:r>
              <a:rPr sz="3200"/>
              <a:t>Five connections. A hundred users.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600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D71920"/>
                </a:solidFill>
              </a:rPr>
              <a:t>ANTI-PATTERN 5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1546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</a:rPr>
              <a:t>Connection pool starvation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tutorial pool meets real traffic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212080" cy="1140460"/>
          </a:xfrm>
          <a:prstGeom prst="roundRect">
            <a:avLst>
              <a:gd name="adj" fmla="val 3000"/>
            </a:avLst>
          </a:prstGeom>
          <a:solidFill>
            <a:srgbClr val="1B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408176"/>
            <a:ext cx="4937760" cy="9210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8EAF0"/>
                </a:solidFill>
                <a:latin typeface="Courier New"/>
              </a:rPr>
              <a:t>create_async_engine(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E8EAF0"/>
                </a:solidFill>
                <a:latin typeface="Courier New"/>
              </a:rPr>
              <a:t>    url,</a:t>
            </a:r>
          </a:p>
          <a:p>
            <a:pPr algn="l">
              <a:spcAft>
                <a:spcPts val="0"/>
              </a:spcAft>
            </a:pPr>
            <a:r>
              <a:rPr sz="1250" b="1">
                <a:solidFill>
                  <a:srgbClr val="FF8A8F"/>
                </a:solidFill>
                <a:latin typeface="Courier New"/>
              </a:rPr>
              <a:t>    pool_size=5, max_overflow=10, pool_timeout=2,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E8EAF0"/>
                </a:solidFill>
                <a:latin typeface="Courier New"/>
              </a:rPr>
              <a:t>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152143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BAD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80360"/>
            <a:ext cx="8138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1F24"/>
                </a:solidFill>
              </a:rPr>
              <a:t>Five connections is fine on your laptop.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1F24"/>
                </a:solidFill>
              </a:rPr>
              <a:t>In production the pool is a </a:t>
            </a:r>
            <a:r>
              <a:rPr sz="1600" b="1">
                <a:solidFill>
                  <a:srgbClr val="1F1F24"/>
                </a:solidFill>
              </a:rPr>
              <a:t>hard ceiling</a:t>
            </a:r>
            <a:r>
              <a:rPr sz="1600" b="0">
                <a:solidFill>
                  <a:srgbClr val="1F1F24"/>
                </a:solidFill>
              </a:rPr>
              <a:t> — and every connection is a real TCP + auth handshake.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Same code. Same load. Only the pool changed.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locust · 100 users · near-instant ramp · 20 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4754880" cy="115214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731520"/>
                <a:gridCol w="1280160"/>
                <a:gridCol w="914400"/>
                <a:gridCol w="914400"/>
                <a:gridCol w="91440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73152" marR="73152" marT="27432" marB="27432" anchor="ctr">
                    <a:solidFill>
                      <a:srgbClr val="2F55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pool</a:t>
                      </a:r>
                    </a:p>
                  </a:txBody>
                  <a:tcPr marL="73152" marR="73152" marT="27432" marB="27432" anchor="ctr">
                    <a:solidFill>
                      <a:srgbClr val="2F55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requests</a:t>
                      </a:r>
                    </a:p>
                  </a:txBody>
                  <a:tcPr marL="73152" marR="73152" marT="27432" marB="27432" anchor="ctr">
                    <a:solidFill>
                      <a:srgbClr val="2F55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failures</a:t>
                      </a:r>
                    </a:p>
                  </a:txBody>
                  <a:tcPr marL="73152" marR="73152" marT="27432" marB="27432" anchor="ctr">
                    <a:solidFill>
                      <a:srgbClr val="2F55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median</a:t>
                      </a:r>
                    </a:p>
                  </a:txBody>
                  <a:tcPr marL="73152" marR="73152" marT="27432" marB="27432" anchor="ctr">
                    <a:solidFill>
                      <a:srgbClr val="2F559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24"/>
                          </a:solidFill>
                        </a:rPr>
                        <a:t>bad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24"/>
                          </a:solidFill>
                        </a:rPr>
                        <a:t>5 / +10 / 2 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24"/>
                          </a:solidFill>
                        </a:rPr>
                        <a:t>905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24"/>
                          </a:solidFill>
                        </a:rPr>
                        <a:t>19 (2.1%)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24"/>
                          </a:solidFill>
                        </a:rPr>
                        <a:t>2200 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24"/>
                          </a:solidFill>
                        </a:rPr>
                        <a:t>good</a:t>
                      </a:r>
                    </a:p>
                  </a:txBody>
                  <a:tcPr marL="73152" marR="73152" marT="27432" marB="27432" anchor="ctr">
                    <a:solidFill>
                      <a:srgbClr val="FBE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24"/>
                          </a:solidFill>
                        </a:rPr>
                        <a:t>20 / +40 / 10 s</a:t>
                      </a:r>
                    </a:p>
                  </a:txBody>
                  <a:tcPr marL="73152" marR="73152" marT="27432" marB="27432" anchor="ctr">
                    <a:solidFill>
                      <a:srgbClr val="FBE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24"/>
                          </a:solidFill>
                        </a:rPr>
                        <a:t>3370</a:t>
                      </a:r>
                    </a:p>
                  </a:txBody>
                  <a:tcPr marL="73152" marR="73152" marT="27432" marB="27432" anchor="ctr">
                    <a:solidFill>
                      <a:srgbClr val="FBE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24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BE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F24"/>
                          </a:solidFill>
                        </a:rPr>
                        <a:t>530 ms</a:t>
                      </a:r>
                    </a:p>
                  </a:txBody>
                  <a:tcPr marL="73152" marR="73152" marT="27432" marB="27432" anchor="ctr">
                    <a:solidFill>
                      <a:srgbClr val="FBECD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394960" y="1188720"/>
          <a:ext cx="329184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2880360"/>
            <a:ext cx="4754880" cy="1097280"/>
          </a:xfrm>
          <a:prstGeom prst="roundRect">
            <a:avLst>
              <a:gd name="adj" fmla="val 3000"/>
            </a:avLst>
          </a:prstGeom>
          <a:solidFill>
            <a:srgbClr val="1B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3008376"/>
            <a:ext cx="4480560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AA3B8"/>
                </a:solidFill>
                <a:latin typeface="Courier New"/>
              </a:rPr>
              <a:t>every one of the 19 failures: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FF8A8F"/>
                </a:solidFill>
                <a:latin typeface="Courier New"/>
              </a:rPr>
              <a:t>sqlalchemy.exc.TimeoutError: QueuePool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FF8A8F"/>
                </a:solidFill>
                <a:latin typeface="Courier New"/>
              </a:rPr>
              <a:t>limit of size 5 overflow 10 reached,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FF8A8F"/>
                </a:solidFill>
                <a:latin typeface="Courier New"/>
              </a:rPr>
              <a:t>connection timed out, timeout 2.00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fix: size it for reality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4572000" cy="1450339"/>
          </a:xfrm>
          <a:prstGeom prst="roundRect">
            <a:avLst>
              <a:gd name="adj" fmla="val 3000"/>
            </a:avLst>
          </a:prstGeom>
          <a:solidFill>
            <a:srgbClr val="1B2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408176"/>
            <a:ext cx="4297680" cy="12308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8EAF0"/>
                </a:solidFill>
                <a:latin typeface="Courier New"/>
              </a:rPr>
              <a:t>create_async_engine(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E8EAF0"/>
                </a:solidFill>
                <a:latin typeface="Courier New"/>
              </a:rPr>
              <a:t>    url,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8BD5A0"/>
                </a:solidFill>
                <a:latin typeface="Courier New"/>
              </a:rPr>
              <a:t>    pool_size=20, max_overflow=40,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8BD5A0"/>
                </a:solidFill>
                <a:latin typeface="Courier New"/>
              </a:rPr>
              <a:t>    pool_timeout=10, pool_recycle=1800,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E8EAF0"/>
                </a:solidFill>
                <a:latin typeface="Courier New"/>
              </a:rPr>
              <a:t>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86200" y="1152143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GOOD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4206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56032" indent="-256032">
              <a:spcAft>
                <a:spcPts val="300"/>
              </a:spcAft>
              <a:buClr>
                <a:srgbClr val="D71920"/>
              </a:buClr>
              <a:buFont typeface="Arial"/>
              <a:buChar char="•"/>
            </a:pPr>
            <a:r>
              <a:rPr sz="1300" b="0">
                <a:solidFill>
                  <a:srgbClr val="1F1F24"/>
                </a:solidFill>
              </a:rPr>
              <a:t>Size for </a:t>
            </a:r>
            <a:r>
              <a:rPr sz="1300" b="1">
                <a:solidFill>
                  <a:srgbClr val="1F1F24"/>
                </a:solidFill>
              </a:rPr>
              <a:t>real</a:t>
            </a:r>
            <a:r>
              <a:rPr sz="1300" b="0">
                <a:solidFill>
                  <a:srgbClr val="1F1F24"/>
                </a:solidFill>
              </a:rPr>
              <a:t> concurrency</a:t>
            </a:r>
          </a:p>
          <a:p>
            <a:pPr algn="l" marL="256032" indent="-256032">
              <a:spcAft>
                <a:spcPts val="300"/>
              </a:spcAft>
              <a:buClr>
                <a:srgbClr val="D71920"/>
              </a:buClr>
              <a:buFont typeface="Arial"/>
              <a:buChar char="•"/>
            </a:pPr>
            <a:r>
              <a:rPr sz="1300" b="0">
                <a:solidFill>
                  <a:srgbClr val="1F1F24"/>
                </a:solidFill>
              </a:rPr>
              <a:t>Set </a:t>
            </a:r>
            <a:r>
              <a:rPr sz="1300" b="1">
                <a:solidFill>
                  <a:srgbClr val="2F559A"/>
                </a:solidFill>
                <a:latin typeface="Courier New"/>
              </a:rPr>
              <a:t>pool_timeout</a:t>
            </a:r>
            <a:r>
              <a:rPr sz="1300" b="0">
                <a:solidFill>
                  <a:srgbClr val="1F1F24"/>
                </a:solidFill>
              </a:rPr>
              <a:t> on purpose; </a:t>
            </a:r>
            <a:r>
              <a:rPr sz="1300" b="1">
                <a:solidFill>
                  <a:srgbClr val="2F559A"/>
                </a:solidFill>
                <a:latin typeface="Courier New"/>
              </a:rPr>
              <a:t>pool_recycle</a:t>
            </a:r>
            <a:r>
              <a:rPr sz="1300" b="0">
                <a:solidFill>
                  <a:srgbClr val="1F1F24"/>
                </a:solidFill>
              </a:rPr>
              <a:t> for stale connections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1280160"/>
            <a:ext cx="3200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0" y="1353312"/>
            <a:ext cx="301752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>
                <a:solidFill>
                  <a:srgbClr val="2F559A"/>
                </a:solidFill>
                <a:latin typeface="Lora"/>
              </a:rPr>
              <a:t>3.7×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4688" y="2075687"/>
            <a:ext cx="29809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throughput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2788920"/>
            <a:ext cx="3200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2862072"/>
            <a:ext cx="301752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>
                <a:solidFill>
                  <a:srgbClr val="2E7D4F"/>
                </a:solidFill>
                <a:latin typeface="Lora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4688" y="3584448"/>
            <a:ext cx="29809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failures (was 19)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5-point FastAPI speed check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813816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1252728"/>
            <a:ext cx="402336" cy="402336"/>
          </a:xfrm>
          <a:prstGeom prst="ellipse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188720"/>
            <a:ext cx="7315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1F24"/>
                </a:solidFill>
              </a:rPr>
              <a:t>Loop</a:t>
            </a:r>
            <a:r>
              <a:rPr sz="1500" b="0">
                <a:solidFill>
                  <a:srgbClr val="1F1F24"/>
                </a:solidFill>
              </a:rPr>
              <a:t> — no sync I/O inside </a:t>
            </a:r>
            <a:r>
              <a:rPr sz="1500" b="1">
                <a:solidFill>
                  <a:srgbClr val="2F559A"/>
                </a:solidFill>
                <a:latin typeface="Courier New"/>
              </a:rPr>
              <a:t>async def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92224"/>
            <a:ext cx="813816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8" y="1856231"/>
            <a:ext cx="402336" cy="402336"/>
          </a:xfrm>
          <a:prstGeom prst="ellipse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792224"/>
            <a:ext cx="7315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1F24"/>
                </a:solidFill>
              </a:rPr>
              <a:t>Lifecycle</a:t>
            </a:r>
            <a:r>
              <a:rPr sz="1500" b="0">
                <a:solidFill>
                  <a:srgbClr val="1F1F24"/>
                </a:solidFill>
              </a:rPr>
              <a:t> — build once, borrow per request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95728"/>
            <a:ext cx="813816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6928" y="2459736"/>
            <a:ext cx="402336" cy="402336"/>
          </a:xfrm>
          <a:prstGeom prst="ellipse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95728"/>
            <a:ext cx="7315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1F24"/>
                </a:solidFill>
              </a:rPr>
              <a:t>Loading</a:t>
            </a:r>
            <a:r>
              <a:rPr sz="1500" b="0">
                <a:solidFill>
                  <a:srgbClr val="1F1F24"/>
                </a:solidFill>
              </a:rPr>
              <a:t> — eager-load; never lazy-touch in a 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99232"/>
            <a:ext cx="813816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6928" y="3063240"/>
            <a:ext cx="402336" cy="402336"/>
          </a:xfrm>
          <a:prstGeom prst="ellipse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999232"/>
            <a:ext cx="7315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1F24"/>
                </a:solidFill>
              </a:rPr>
              <a:t>Pydantic</a:t>
            </a:r>
            <a:r>
              <a:rPr sz="1500" b="0">
                <a:solidFill>
                  <a:srgbClr val="1F1F24"/>
                </a:solidFill>
              </a:rPr>
              <a:t> — </a:t>
            </a:r>
            <a:r>
              <a:rPr sz="1500" b="1">
                <a:solidFill>
                  <a:srgbClr val="2F559A"/>
                </a:solidFill>
                <a:latin typeface="Courier New"/>
              </a:rPr>
              <a:t>from_attributes=True</a:t>
            </a:r>
            <a:r>
              <a:rPr sz="1500" b="0">
                <a:solidFill>
                  <a:srgbClr val="1F1F24"/>
                </a:solidFill>
              </a:rPr>
              <a:t> — or skip 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02736"/>
            <a:ext cx="813816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6928" y="3666744"/>
            <a:ext cx="402336" cy="402336"/>
          </a:xfrm>
          <a:prstGeom prst="ellipse">
            <a:avLst/>
          </a:prstGeom>
          <a:solidFill>
            <a:srgbClr val="D7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602736"/>
            <a:ext cx="7315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1F24"/>
                </a:solidFill>
              </a:rPr>
              <a:t>Pool</a:t>
            </a:r>
            <a:r>
              <a:rPr sz="1500" b="0">
                <a:solidFill>
                  <a:srgbClr val="1F1F24"/>
                </a:solidFill>
              </a:rPr>
              <a:t> — size for real traffic, not tutorials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profiling toolkit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138160" cy="301752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743200"/>
                <a:gridCol w="539496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 marL="73152" marR="73152" marT="27432" marB="27432" anchor="ctr">
                    <a:solidFill>
                      <a:srgbClr val="2F55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Use it for</a:t>
                      </a:r>
                    </a:p>
                  </a:txBody>
                  <a:tcPr marL="73152" marR="73152" marT="27432" marB="27432" anchor="ctr">
                    <a:solidFill>
                      <a:srgbClr val="2F559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F559A"/>
                          </a:solidFill>
                          <a:latin typeface="Courier New"/>
                        </a:rPr>
                        <a:t>py-spy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1F24"/>
                          </a:solidFill>
                        </a:rPr>
                        <a:t>see where the time goes — flame graphs, zero code changes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F1F24"/>
                          </a:solidFill>
                        </a:rPr>
                        <a:t>asyncio debug mode</a:t>
                      </a:r>
                    </a:p>
                  </a:txBody>
                  <a:tcPr marL="73152" marR="73152" marT="27432" marB="27432" anchor="ctr">
                    <a:solidFill>
                      <a:srgbClr val="FBE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1F24"/>
                          </a:solidFill>
                        </a:rPr>
                        <a:t>catch blocking calls red-handed</a:t>
                      </a:r>
                    </a:p>
                  </a:txBody>
                  <a:tcPr marL="73152" marR="73152" marT="27432" marB="27432" anchor="ctr">
                    <a:solidFill>
                      <a:srgbClr val="FBECD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F559A"/>
                          </a:solidFill>
                          <a:latin typeface="Courier New"/>
                        </a:rPr>
                        <a:t>cProfile</a:t>
                      </a:r>
                      <a:r>
                        <a:rPr sz="1500" b="1">
                          <a:solidFill>
                            <a:srgbClr val="1F1F24"/>
                          </a:solidFill>
                        </a:rPr>
                        <a:t> + </a:t>
                      </a:r>
                      <a:r>
                        <a:rPr sz="1500" b="1">
                          <a:solidFill>
                            <a:srgbClr val="2F559A"/>
                          </a:solidFill>
                          <a:latin typeface="Courier New"/>
                        </a:rPr>
                        <a:t>pstats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1F24"/>
                          </a:solidFill>
                        </a:rPr>
                        <a:t>which function burns the CPU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F1F24"/>
                          </a:solidFill>
                        </a:rPr>
                        <a:t>SQLAlchemy </a:t>
                      </a:r>
                      <a:r>
                        <a:rPr sz="1500" b="1">
                          <a:solidFill>
                            <a:srgbClr val="2F559A"/>
                          </a:solidFill>
                          <a:latin typeface="Courier New"/>
                        </a:rPr>
                        <a:t>echo=True</a:t>
                      </a:r>
                    </a:p>
                  </a:txBody>
                  <a:tcPr marL="73152" marR="73152" marT="27432" marB="27432" anchor="ctr">
                    <a:solidFill>
                      <a:srgbClr val="FBE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1F24"/>
                          </a:solidFill>
                        </a:rPr>
                        <a:t>every query, counted</a:t>
                      </a:r>
                    </a:p>
                  </a:txBody>
                  <a:tcPr marL="73152" marR="73152" marT="27432" marB="27432" anchor="ctr">
                    <a:solidFill>
                      <a:srgbClr val="FBECD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F559A"/>
                          </a:solidFill>
                          <a:latin typeface="Courier New"/>
                        </a:rPr>
                        <a:t>locust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1F24"/>
                          </a:solidFill>
                        </a:rPr>
                        <a:t>load that actually hurts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/>
              <a:t>github.com/satyamsoni2211/fastapi-performance-deep-dive</a:t>
            </a:r>
          </a:p>
          <a:p>
            <a:r>
              <a:rPr sz="1400" b="0">
                <a:solidFill>
                  <a:srgbClr val="595959"/>
                </a:solidFill>
              </a:rPr>
              <a:t>Clone it. </a:t>
            </a:r>
            <a:r>
              <a:rPr sz="1400" b="1">
                <a:solidFill>
                  <a:srgbClr val="595959"/>
                </a:solidFill>
                <a:latin typeface="Courier New"/>
              </a:rPr>
              <a:t>docker compose up</a:t>
            </a:r>
            <a:r>
              <a:rPr sz="1400" b="0">
                <a:solidFill>
                  <a:srgbClr val="595959"/>
                </a:solidFill>
              </a:rPr>
              <a:t>. Check every number yourself.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yCon HK 2026">
  <a:themeElements>
    <a:clrScheme name="Simple Light">
      <a:dk1>
        <a:srgbClr val="000000"/>
      </a:dk1>
      <a:lt1>
        <a:srgbClr val="FEF5E9"/>
      </a:lt1>
      <a:dk2>
        <a:srgbClr val="595959"/>
      </a:dk2>
      <a:lt2>
        <a:srgbClr val="FFFFFF"/>
      </a:lt2>
      <a:accent1>
        <a:srgbClr val="D71920"/>
      </a:accent1>
      <a:accent2>
        <a:srgbClr val="2F559A"/>
      </a:accent2>
      <a:accent3>
        <a:srgbClr val="72819C"/>
      </a:accent3>
      <a:accent4>
        <a:srgbClr val="D56C70"/>
      </a:accent4>
      <a:accent5>
        <a:srgbClr val="FFFFFF"/>
      </a:accent5>
      <a:accent6>
        <a:srgbClr val="FFFF00"/>
      </a:accent6>
      <a:hlink>
        <a:srgbClr val="2F559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