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2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3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64748B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64748B"/>
                </a:solidFill>
                <a:latin typeface="Calibri"/>
              </a:rPr>
              <a:t>3 concurrent requests · 1s upstream delay each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Wall-clock (s)</c:v>
                </c:pt>
              </c:strCache>
            </c:strRef>
          </c:tx>
          <c:spPr>
            <a:solidFill>
              <a:srgbClr val="E11D48">
                <a:alpha val="100000"/>
              </a:srgbClr>
            </a:solidFill>
            <a:effectLst/>
          </c:spPr>
          <c:invertIfNegative val="0"/>
          <c:dLbls>
            <c:numFmt formatCode="0.00&quot;s&quot;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E293B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11D4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0B981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B7A5C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bad — requests.get in async def</c:v>
                  </c:pt>
                  <c:pt idx="1">
                    <c:v>good — httpx.AsyncClient</c:v>
                  </c:pt>
                  <c:pt idx="2">
                    <c:v>bridge — run_in_executor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3.046</c:v>
                </c:pt>
                <c:pt idx="1">
                  <c:v>1.04</c:v>
                </c:pt>
                <c:pt idx="2">
                  <c:v>1.039</c:v>
                </c:pt>
              </c:numCache>
            </c:numRef>
          </c:val>
        </c:ser>
        <c:dLbls>
          <c:numFmt formatCode="0.00&quot;s&quot;" sourceLinked="0"/>
          <c:txPr>
            <a:bodyPr/>
            <a:lstStyle/>
            <a:p>
              <a:pPr>
                <a:defRPr b="0" i="0" strike="noStrike" sz="1300" u="none">
                  <a:solidFill>
                    <a:srgbClr val="1E293B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293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.5"/>
        </c:scaling>
        <c:delete val="0"/>
        <c:axPos val="b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4748B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cProfile · 200 orders × 20 repeats</c:v>
                </c:pt>
              </c:strCache>
            </c:strRef>
          </c:tx>
          <c:spPr>
            <a:solidFill>
              <a:srgbClr val="E11D4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E293B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total time (ms)</c:v>
                  </c:pt>
                  <c:pt idx="1">
                    <c:v>function calls (thousands)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56</c:v>
                </c:pt>
                <c:pt idx="1">
                  <c:v>204.5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good</c:v>
                </c:pt>
              </c:strCache>
            </c:strRef>
          </c:tx>
          <c:spPr>
            <a:solidFill>
              <a:srgbClr val="10B98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E293B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total time (ms)</c:v>
                  </c:pt>
                  <c:pt idx="1">
                    <c:v>function calls (thousands)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30</c:v>
                </c:pt>
                <c:pt idx="1">
                  <c:v>116.5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E293B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50" b="0" i="0" u="none" strike="noStrike">
                <a:solidFill>
                  <a:srgbClr val="1E293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pool 5/+10, timeout 2s (defaults)</c:v>
                </c:pt>
              </c:strCache>
            </c:strRef>
          </c:tx>
          <c:spPr>
            <a:solidFill>
              <a:srgbClr val="E11D4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throughput (req/s)</c:v>
                  </c:pt>
                  <c:pt idx="1">
                    <c:v>median latency (×10ms)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47.8</c:v>
                </c:pt>
                <c:pt idx="1">
                  <c:v>220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pool 20/+40, timeout 10s (tuned)</c:v>
                </c:pt>
              </c:strCache>
            </c:strRef>
          </c:tx>
          <c:spPr>
            <a:solidFill>
              <a:srgbClr val="10B98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throughput (req/s)</c:v>
                  </c:pt>
                  <c:pt idx="1">
                    <c:v>median latency (×10ms)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179.3</c:v>
                </c:pt>
                <c:pt idx="1">
                  <c:v>53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293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E293B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Quick intro: software architect, 10+ years of production Python across fintech, telecom, real estate. Everything in this talk is a real production pattern with real captured numbers — nothing is staged for slides.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Hook (0:00–2:00). Tell the incident like a story. Pause on the punchline: rewritten for speed, measurably slower than the Flask predecessor. Let the discomfort land before moving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Framing (2:00–5:00). Set expectations: not a tutorial, a post-mortem catalogue. Mention the repo early so people relax about noting every command down.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this to ~90 seconds. The one sentence to land: 'async def' means CAPABLE of yielding, not non-blocking. Request C in the diagram is the whole talk in one picture.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AP1 (5:00–10:00). Transition: 'Let's start with the one I see in almost every code review.'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bad code slowly — it LOOKS fine, that's the point. Then run the demo: time (for i in 1 2 3; do curl .../demo/ap1/bad &amp; done; wait), then /good. Audience should predict the numbers before you run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Numbers are from benchmarks/ap1-blocking/. Also show the py-spy flame graphs (flamegraph-bad.svg vs good) if time allows. Key line: the bridge is just as fast — you don't need to rewrite the world on day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AP2 (10:00–14:00). Transition: 'The next one hides in the cleanest-looking code you have.'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Numbers from scripts/bench_ap2_di.py — 50 sequential requests: bad mean 17.48ms / p95 19.52ms vs good mean 1.73ms / p95 2.56ms. The 16ms gap is almost entirely asyncpg connection handshake + auth. Mention lru_cache is fine for cheap pure factories, not for engines.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AP3 (14:00–18:00). Transition: 'Now the database. AsyncSession changed the rules and nobody told your models.'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both endpoints: /demo/ap3/bad-crash (real MissingGreenlet JSON) and /demo/ap3/bad-n1 vs /good with echo=True logs side by side. 6 queries vs 2 for 5 orders; scale that to 2000 orders in prod. This is the bug that passes every code review.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AP4 (18:00–22:00). Transition: 'Your serialization layer should never be your slowest layer.'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cProfile numbers from scripts/pydantic_cprofile_demo.py: bad 0.056s / 204,481 calls vs good 0.030s / 116,463 calls. Red = bad, green = good in the chart. Point out function-call count is often the better smell than wall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AP5 (22:00–26:00). Transition: 'Last one — the config nobody ever changed.'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Numbers from benchmarks/ap5-pool/ locust CSVs: bad = 905 reqs / 19 failures (2.1%) / 2200ms median / 47.8 req/s; good = 3370 reqs / 0 failures / 530ms / 179.3 req/s. Note: latency bars are in units of 10ms so both series fit one axis — say the real numbers out loud: 2200ms vs 530ms.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 (26:00–28:00). Read the five items as a pre-deploy checklist — 'run your service through these before you trust it under concurrency'. CHECKLIST.md in the repo is the expanded version with commands.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Fast slide — the deck is the reference card. All five tools appeared earlier in context; this is the 'screenshot this one'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Q&amp;A (28:00–30:00). Common questions to expect: uvicorn workers vs async, sync def routes on the threadpool, pgbouncer vs SQLAlchemy pool, Pydantic v1 migration.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7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2.xml"/><Relationship Id="rId1" Type="http://schemas.openxmlformats.org/officeDocument/2006/relationships/image" Target="../media/image-13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3.xml"/><Relationship Id="rId1" Type="http://schemas.openxmlformats.org/officeDocument/2006/relationships/image" Target="../media/image-15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05895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8138160" y="1005840"/>
            <a:ext cx="3291840" cy="82296"/>
          </a:xfrm>
          <a:prstGeom prst="roundRect">
            <a:avLst>
              <a:gd name="adj" fmla="val 44444"/>
            </a:avLst>
          </a:prstGeom>
          <a:solidFill>
            <a:srgbClr val="10B981"/>
          </a:solidFill>
          <a:ln/>
        </p:spPr>
      </p:sp>
      <p:sp>
        <p:nvSpPr>
          <p:cNvPr id="4" name="Shape 2"/>
          <p:cNvSpPr/>
          <p:nvPr/>
        </p:nvSpPr>
        <p:spPr>
          <a:xfrm>
            <a:off x="8595360" y="1261872"/>
            <a:ext cx="2468880" cy="82296"/>
          </a:xfrm>
          <a:prstGeom prst="roundRect">
            <a:avLst>
              <a:gd name="adj" fmla="val 44444"/>
            </a:avLst>
          </a:prstGeom>
          <a:solidFill>
            <a:srgbClr val="24334E"/>
          </a:solidFill>
          <a:ln/>
        </p:spPr>
      </p:sp>
      <p:sp>
        <p:nvSpPr>
          <p:cNvPr id="5" name="Shape 3"/>
          <p:cNvSpPr/>
          <p:nvPr/>
        </p:nvSpPr>
        <p:spPr>
          <a:xfrm>
            <a:off x="9052560" y="1517904"/>
            <a:ext cx="1645920" cy="82296"/>
          </a:xfrm>
          <a:prstGeom prst="roundRect">
            <a:avLst>
              <a:gd name="adj" fmla="val 44444"/>
            </a:avLst>
          </a:prstGeom>
          <a:solidFill>
            <a:srgbClr val="24334E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1234440"/>
            <a:ext cx="868680" cy="868680"/>
          </a:xfrm>
          <a:prstGeom prst="ellipse">
            <a:avLst/>
          </a:prstGeom>
          <a:solidFill>
            <a:srgbClr val="10B981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9264" y="1426464"/>
            <a:ext cx="484632" cy="4846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2331720"/>
            <a:ext cx="10607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Your FastAPI Is Not Fast</a:t>
            </a:r>
            <a:endParaRPr lang="en-US" sz="5200" dirty="0"/>
          </a:p>
        </p:txBody>
      </p:sp>
      <p:sp>
        <p:nvSpPr>
          <p:cNvPr id="9" name="Text 6"/>
          <p:cNvSpPr/>
          <p:nvPr/>
        </p:nvSpPr>
        <p:spPr>
          <a:xfrm>
            <a:off x="795528" y="361188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F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deep dive into the five hidden bottlenecks that quietly undo async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795528" y="53949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Satyam Soni</a:t>
            </a:r>
            <a:pPr indent="0" marL="0">
              <a:buNone/>
            </a:pPr>
            <a:r>
              <a:rPr lang="en-US" sz="1600" dirty="0">
                <a:solidFill>
                  <a:srgbClr val="9F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PyCon Hong Kong 2026   ·   Software Engineering &amp; Platforms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05895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B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TRUE STORY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rewrite that went backwards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502920" cy="502920"/>
          </a:xfrm>
          <a:prstGeom prst="ellipse">
            <a:avLst/>
          </a:prstGeom>
          <a:solidFill>
            <a:srgbClr val="0E1726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371600" y="1664208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payment-adjacent service is rewritten from sync Flask to FastAPI — for speed.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40080" y="2651760"/>
            <a:ext cx="502920" cy="502920"/>
          </a:xfrm>
          <a:prstGeom prst="ellipse">
            <a:avLst/>
          </a:prstGeom>
          <a:solidFill>
            <a:srgbClr val="0E1726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651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371600" y="2624328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def everywhere. Single-request benchmarks look fantastic. Ship it.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40080" y="3611880"/>
            <a:ext cx="502920" cy="502920"/>
          </a:xfrm>
          <a:prstGeom prst="ellipse">
            <a:avLst/>
          </a:prstGeom>
          <a:solidFill>
            <a:srgbClr val="E11D48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611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371600" y="3584448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real production concurrency, it is slower than the Flask app it replaced.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7772400" y="1691640"/>
            <a:ext cx="3840480" cy="2834640"/>
          </a:xfrm>
          <a:prstGeom prst="roundRect">
            <a:avLst>
              <a:gd name="adj" fmla="val 3226"/>
            </a:avLst>
          </a:prstGeom>
          <a:solidFill>
            <a:srgbClr val="0E1726"/>
          </a:solidFill>
          <a:ln/>
        </p:spPr>
      </p:sp>
      <p:sp>
        <p:nvSpPr>
          <p:cNvPr id="15" name="Text 13"/>
          <p:cNvSpPr/>
          <p:nvPr/>
        </p:nvSpPr>
        <p:spPr>
          <a:xfrm>
            <a:off x="8092440" y="196596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 nobody could answer in the incident channel: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092440" y="2743200"/>
            <a:ext cx="3200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“It’s async.</a:t>
            </a:r>
            <a:endParaRPr lang="en-US" sz="2600" dirty="0"/>
          </a:p>
          <a:p>
            <a:pPr indent="0" marL="0">
              <a:buNone/>
            </a:pPr>
            <a:r>
              <a:rPr lang="en-US" sz="26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is it slow?”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640080" y="48920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talk is the post-mortem — generalized to the five failures I keep meeting in production FastAPI services.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05895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B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UNCOMFORTABLE TRUTH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FastAPI is fast — if you are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framework gives you the tools. It doesn’t protect you from yourself. Five anti-patterns do most of the damage — each one gets a live demo, real profiling output, and a measured fix.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331720"/>
            <a:ext cx="2103120" cy="3108960"/>
          </a:xfrm>
          <a:prstGeom prst="roundRect">
            <a:avLst>
              <a:gd name="adj" fmla="val 4348"/>
            </a:avLst>
          </a:prstGeom>
          <a:solidFill>
            <a:srgbClr val="F1F5F9"/>
          </a:solidFill>
          <a:ln/>
        </p:spPr>
      </p:sp>
      <p:sp>
        <p:nvSpPr>
          <p:cNvPr id="7" name="Shape 5"/>
          <p:cNvSpPr/>
          <p:nvPr/>
        </p:nvSpPr>
        <p:spPr>
          <a:xfrm>
            <a:off x="1234440" y="2651760"/>
            <a:ext cx="731520" cy="731520"/>
          </a:xfrm>
          <a:prstGeom prst="ellipse">
            <a:avLst/>
          </a:prstGeom>
          <a:solidFill>
            <a:srgbClr val="0E1726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7320" y="2834640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85800" y="356616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Blocking the event loop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685800" y="4224528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 I/O hiding inside async def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685800" y="50292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05:00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2834640" y="2331720"/>
            <a:ext cx="2103120" cy="3108960"/>
          </a:xfrm>
          <a:prstGeom prst="roundRect">
            <a:avLst>
              <a:gd name="adj" fmla="val 4348"/>
            </a:avLst>
          </a:prstGeom>
          <a:solidFill>
            <a:srgbClr val="F1F5F9"/>
          </a:solidFill>
          <a:ln/>
        </p:spPr>
      </p:sp>
      <p:sp>
        <p:nvSpPr>
          <p:cNvPr id="13" name="Shape 10"/>
          <p:cNvSpPr/>
          <p:nvPr/>
        </p:nvSpPr>
        <p:spPr>
          <a:xfrm>
            <a:off x="3520440" y="2651760"/>
            <a:ext cx="731520" cy="731520"/>
          </a:xfrm>
          <a:prstGeom prst="ellipse">
            <a:avLst/>
          </a:prstGeom>
          <a:solidFill>
            <a:srgbClr val="0E1726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3320" y="2834640"/>
            <a:ext cx="365760" cy="36576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971800" y="356616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DI lifecycle misuse</a:t>
            </a:r>
            <a:endParaRPr lang="en-US" sz="1450" dirty="0"/>
          </a:p>
        </p:txBody>
      </p:sp>
      <p:sp>
        <p:nvSpPr>
          <p:cNvPr id="16" name="Text 12"/>
          <p:cNvSpPr/>
          <p:nvPr/>
        </p:nvSpPr>
        <p:spPr>
          <a:xfrm>
            <a:off x="2971800" y="4224528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Rebuilding engines &amp; clients per request</a:t>
            </a:r>
            <a:endParaRPr lang="en-US" sz="1150" dirty="0"/>
          </a:p>
        </p:txBody>
      </p:sp>
      <p:sp>
        <p:nvSpPr>
          <p:cNvPr id="17" name="Text 13"/>
          <p:cNvSpPr/>
          <p:nvPr/>
        </p:nvSpPr>
        <p:spPr>
          <a:xfrm>
            <a:off x="2971800" y="50292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10:00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5120640" y="2331720"/>
            <a:ext cx="2103120" cy="3108960"/>
          </a:xfrm>
          <a:prstGeom prst="roundRect">
            <a:avLst>
              <a:gd name="adj" fmla="val 4348"/>
            </a:avLst>
          </a:prstGeom>
          <a:solidFill>
            <a:srgbClr val="F1F5F9"/>
          </a:solidFill>
          <a:ln/>
        </p:spPr>
      </p:sp>
      <p:sp>
        <p:nvSpPr>
          <p:cNvPr id="19" name="Shape 15"/>
          <p:cNvSpPr/>
          <p:nvPr/>
        </p:nvSpPr>
        <p:spPr>
          <a:xfrm>
            <a:off x="5806440" y="2651760"/>
            <a:ext cx="731520" cy="731520"/>
          </a:xfrm>
          <a:prstGeom prst="ellipse">
            <a:avLst/>
          </a:prstGeom>
          <a:solidFill>
            <a:srgbClr val="0E1726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9320" y="2834640"/>
            <a:ext cx="365760" cy="36576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5257800" y="356616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Lazy loading in async</a:t>
            </a:r>
            <a:endParaRPr lang="en-US" sz="1450" dirty="0"/>
          </a:p>
        </p:txBody>
      </p:sp>
      <p:sp>
        <p:nvSpPr>
          <p:cNvPr id="22" name="Text 17"/>
          <p:cNvSpPr/>
          <p:nvPr/>
        </p:nvSpPr>
        <p:spPr>
          <a:xfrm>
            <a:off x="5257800" y="4224528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MissingGreenlet crashes &amp; silent N+1</a:t>
            </a:r>
            <a:endParaRPr lang="en-US" sz="1150" dirty="0"/>
          </a:p>
        </p:txBody>
      </p:sp>
      <p:sp>
        <p:nvSpPr>
          <p:cNvPr id="23" name="Text 18"/>
          <p:cNvSpPr/>
          <p:nvPr/>
        </p:nvSpPr>
        <p:spPr>
          <a:xfrm>
            <a:off x="5257800" y="50292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14:00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7406640" y="2331720"/>
            <a:ext cx="2103120" cy="3108960"/>
          </a:xfrm>
          <a:prstGeom prst="roundRect">
            <a:avLst>
              <a:gd name="adj" fmla="val 4348"/>
            </a:avLst>
          </a:prstGeom>
          <a:solidFill>
            <a:srgbClr val="F1F5F9"/>
          </a:solidFill>
          <a:ln/>
        </p:spPr>
      </p:sp>
      <p:sp>
        <p:nvSpPr>
          <p:cNvPr id="25" name="Shape 20"/>
          <p:cNvSpPr/>
          <p:nvPr/>
        </p:nvSpPr>
        <p:spPr>
          <a:xfrm>
            <a:off x="8092440" y="2651760"/>
            <a:ext cx="731520" cy="731520"/>
          </a:xfrm>
          <a:prstGeom prst="ellipse">
            <a:avLst/>
          </a:prstGeom>
          <a:solidFill>
            <a:srgbClr val="0E1726"/>
          </a:solidFill>
          <a:ln/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5320" y="2834640"/>
            <a:ext cx="365760" cy="36576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7543800" y="356616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Pydantic overhead</a:t>
            </a:r>
            <a:endParaRPr lang="en-US" sz="1450" dirty="0"/>
          </a:p>
        </p:txBody>
      </p:sp>
      <p:sp>
        <p:nvSpPr>
          <p:cNvPr id="28" name="Text 22"/>
          <p:cNvSpPr/>
          <p:nvPr/>
        </p:nvSpPr>
        <p:spPr>
          <a:xfrm>
            <a:off x="7543800" y="4224528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Redundant validate → dump round-trips</a:t>
            </a:r>
            <a:endParaRPr lang="en-US" sz="1150" dirty="0"/>
          </a:p>
        </p:txBody>
      </p:sp>
      <p:sp>
        <p:nvSpPr>
          <p:cNvPr id="29" name="Text 23"/>
          <p:cNvSpPr/>
          <p:nvPr/>
        </p:nvSpPr>
        <p:spPr>
          <a:xfrm>
            <a:off x="7543800" y="50292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18:00</a:t>
            </a:r>
            <a:endParaRPr lang="en-US" sz="1100" dirty="0"/>
          </a:p>
        </p:txBody>
      </p:sp>
      <p:sp>
        <p:nvSpPr>
          <p:cNvPr id="30" name="Shape 24"/>
          <p:cNvSpPr/>
          <p:nvPr/>
        </p:nvSpPr>
        <p:spPr>
          <a:xfrm>
            <a:off x="9692640" y="2331720"/>
            <a:ext cx="2103120" cy="3108960"/>
          </a:xfrm>
          <a:prstGeom prst="roundRect">
            <a:avLst>
              <a:gd name="adj" fmla="val 4348"/>
            </a:avLst>
          </a:prstGeom>
          <a:solidFill>
            <a:srgbClr val="F1F5F9"/>
          </a:solidFill>
          <a:ln/>
        </p:spPr>
      </p:sp>
      <p:sp>
        <p:nvSpPr>
          <p:cNvPr id="31" name="Shape 25"/>
          <p:cNvSpPr/>
          <p:nvPr/>
        </p:nvSpPr>
        <p:spPr>
          <a:xfrm>
            <a:off x="10378440" y="2651760"/>
            <a:ext cx="731520" cy="731520"/>
          </a:xfrm>
          <a:prstGeom prst="ellipse">
            <a:avLst/>
          </a:prstGeom>
          <a:solidFill>
            <a:srgbClr val="0E1726"/>
          </a:solidFill>
          <a:ln/>
        </p:spPr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61320" y="2834640"/>
            <a:ext cx="365760" cy="365760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9829800" y="356616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Pool starvation</a:t>
            </a:r>
            <a:endParaRPr lang="en-US" sz="1450" dirty="0"/>
          </a:p>
        </p:txBody>
      </p:sp>
      <p:sp>
        <p:nvSpPr>
          <p:cNvPr id="34" name="Text 27"/>
          <p:cNvSpPr/>
          <p:nvPr/>
        </p:nvSpPr>
        <p:spPr>
          <a:xfrm>
            <a:off x="9829800" y="4224528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Tutorial defaults vs real concurrency</a:t>
            </a:r>
            <a:endParaRPr lang="en-US" sz="1150" dirty="0"/>
          </a:p>
        </p:txBody>
      </p:sp>
      <p:sp>
        <p:nvSpPr>
          <p:cNvPr id="35" name="Text 28"/>
          <p:cNvSpPr/>
          <p:nvPr/>
        </p:nvSpPr>
        <p:spPr>
          <a:xfrm>
            <a:off x="9829800" y="50292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22:00</a:t>
            </a:r>
            <a:endParaRPr lang="en-US" sz="1100" dirty="0"/>
          </a:p>
        </p:txBody>
      </p:sp>
      <p:sp>
        <p:nvSpPr>
          <p:cNvPr id="36" name="Text 29"/>
          <p:cNvSpPr/>
          <p:nvPr/>
        </p:nvSpPr>
        <p:spPr>
          <a:xfrm>
            <a:off x="548640" y="58064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number in this talk comes from one reproducible “Orders API” repo — you can re-run all of it tonight with docker compose up.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05895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B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60-SECOND MENTAL MODEL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async actually buys you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6309360" cy="3017520"/>
          </a:xfrm>
          <a:prstGeom prst="roundRect">
            <a:avLst>
              <a:gd name="adj" fmla="val 3636"/>
            </a:avLst>
          </a:prstGeom>
          <a:solidFill>
            <a:srgbClr val="0E1726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212848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F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EVENT LOOP  ·  ONE THREAD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914400" y="2651760"/>
            <a:ext cx="1920240" cy="548640"/>
          </a:xfrm>
          <a:prstGeom prst="roundRect">
            <a:avLst>
              <a:gd name="adj" fmla="val 13333"/>
            </a:avLst>
          </a:prstGeom>
          <a:solidFill>
            <a:srgbClr val="16233A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65176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request A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926080" y="2926080"/>
            <a:ext cx="640080" cy="0"/>
          </a:xfrm>
          <a:prstGeom prst="line">
            <a:avLst/>
          </a:prstGeom>
          <a:noFill/>
          <a:ln w="25400">
            <a:solidFill>
              <a:srgbClr val="10B981"/>
            </a:solidFill>
            <a:prstDash val="solid"/>
            <a:tailEnd type="arrow"/>
          </a:ln>
        </p:spPr>
      </p:sp>
      <p:sp>
        <p:nvSpPr>
          <p:cNvPr id="10" name="Text 8"/>
          <p:cNvSpPr/>
          <p:nvPr/>
        </p:nvSpPr>
        <p:spPr>
          <a:xfrm>
            <a:off x="3657600" y="265176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7F5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await → yields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914400" y="3401568"/>
            <a:ext cx="1920240" cy="548640"/>
          </a:xfrm>
          <a:prstGeom prst="roundRect">
            <a:avLst>
              <a:gd name="adj" fmla="val 13333"/>
            </a:avLst>
          </a:prstGeom>
          <a:solidFill>
            <a:srgbClr val="16233A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3401568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request B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926080" y="3675888"/>
            <a:ext cx="640080" cy="0"/>
          </a:xfrm>
          <a:prstGeom prst="line">
            <a:avLst/>
          </a:prstGeom>
          <a:noFill/>
          <a:ln w="25400">
            <a:solidFill>
              <a:srgbClr val="10B981"/>
            </a:solidFill>
            <a:prstDash val="solid"/>
            <a:tailEnd type="arrow"/>
          </a:ln>
        </p:spPr>
      </p:sp>
      <p:sp>
        <p:nvSpPr>
          <p:cNvPr id="14" name="Text 12"/>
          <p:cNvSpPr/>
          <p:nvPr/>
        </p:nvSpPr>
        <p:spPr>
          <a:xfrm>
            <a:off x="3657600" y="3401568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7F5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await → yields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914400" y="4151376"/>
            <a:ext cx="1920240" cy="548640"/>
          </a:xfrm>
          <a:prstGeom prst="roundRect">
            <a:avLst>
              <a:gd name="adj" fmla="val 13333"/>
            </a:avLst>
          </a:prstGeom>
          <a:solidFill>
            <a:srgbClr val="16233A"/>
          </a:solidFill>
          <a:ln w="19050">
            <a:solidFill>
              <a:srgbClr val="E11D4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4151376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request C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926080" y="4425696"/>
            <a:ext cx="640080" cy="0"/>
          </a:xfrm>
          <a:prstGeom prst="line">
            <a:avLst/>
          </a:prstGeom>
          <a:noFill/>
          <a:ln w="25400">
            <a:solidFill>
              <a:srgbClr val="E11D48"/>
            </a:solidFill>
            <a:prstDash val="solid"/>
            <a:tailEnd type="arrow"/>
          </a:ln>
        </p:spPr>
      </p:sp>
      <p:sp>
        <p:nvSpPr>
          <p:cNvPr id="18" name="Text 16"/>
          <p:cNvSpPr/>
          <p:nvPr/>
        </p:nvSpPr>
        <p:spPr>
          <a:xfrm>
            <a:off x="3657600" y="4151376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 call → HOLDS THE LOOP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315200" y="2011680"/>
            <a:ext cx="4297680" cy="3017520"/>
          </a:xfrm>
          <a:prstGeom prst="roundRect">
            <a:avLst>
              <a:gd name="adj" fmla="val 3636"/>
            </a:avLst>
          </a:prstGeom>
          <a:solidFill>
            <a:srgbClr val="F1F5F9"/>
          </a:solidFill>
          <a:ln/>
        </p:spPr>
      </p:sp>
      <p:sp>
        <p:nvSpPr>
          <p:cNvPr id="20" name="Text 18"/>
          <p:cNvSpPr/>
          <p:nvPr/>
        </p:nvSpPr>
        <p:spPr>
          <a:xfrm>
            <a:off x="7589520" y="228600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7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a cooperative yield point. Nothing else runs until code reaches one.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7589520" y="3337560"/>
            <a:ext cx="3749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11D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def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does not mean non-blocking. It means capable of yielding — if the body never awaits, it hogs the loop like any sync function.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40080" y="53492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that follows lives inside this model: route handlers, dependencies, ORM calls, serialization.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05895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1554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ANTI-PATTERN 1 OF 5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22960" y="2057400"/>
            <a:ext cx="8778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Blocking the event loop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41248" y="365760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9F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single most common killer — and the hardest to catch in code review.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9646920" y="2148840"/>
            <a:ext cx="1554480" cy="1554480"/>
          </a:xfrm>
          <a:prstGeom prst="ellipse">
            <a:avLst/>
          </a:prstGeom>
          <a:solidFill>
            <a:srgbClr val="16233A"/>
          </a:solidFill>
          <a:ln w="19050">
            <a:solidFill>
              <a:srgbClr val="10B981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40112" y="2542032"/>
            <a:ext cx="777240" cy="7772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841248" y="4937760"/>
            <a:ext cx="201168" cy="20116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9" name="Shape 6"/>
          <p:cNvSpPr/>
          <p:nvPr/>
        </p:nvSpPr>
        <p:spPr>
          <a:xfrm>
            <a:off x="1207008" y="4937760"/>
            <a:ext cx="201168" cy="201168"/>
          </a:xfrm>
          <a:prstGeom prst="ellipse">
            <a:avLst/>
          </a:prstGeom>
          <a:solidFill>
            <a:srgbClr val="2A3A57"/>
          </a:solidFill>
          <a:ln/>
        </p:spPr>
      </p:sp>
      <p:sp>
        <p:nvSpPr>
          <p:cNvPr id="10" name="Shape 7"/>
          <p:cNvSpPr/>
          <p:nvPr/>
        </p:nvSpPr>
        <p:spPr>
          <a:xfrm>
            <a:off x="1572768" y="4937760"/>
            <a:ext cx="201168" cy="201168"/>
          </a:xfrm>
          <a:prstGeom prst="ellipse">
            <a:avLst/>
          </a:prstGeom>
          <a:solidFill>
            <a:srgbClr val="2A3A57"/>
          </a:solidFill>
          <a:ln/>
        </p:spPr>
      </p:sp>
      <p:sp>
        <p:nvSpPr>
          <p:cNvPr id="11" name="Shape 8"/>
          <p:cNvSpPr/>
          <p:nvPr/>
        </p:nvSpPr>
        <p:spPr>
          <a:xfrm>
            <a:off x="1938528" y="4937760"/>
            <a:ext cx="201168" cy="201168"/>
          </a:xfrm>
          <a:prstGeom prst="ellipse">
            <a:avLst/>
          </a:prstGeom>
          <a:solidFill>
            <a:srgbClr val="2A3A57"/>
          </a:solidFill>
          <a:ln/>
        </p:spPr>
      </p:sp>
      <p:sp>
        <p:nvSpPr>
          <p:cNvPr id="12" name="Shape 9"/>
          <p:cNvSpPr/>
          <p:nvPr/>
        </p:nvSpPr>
        <p:spPr>
          <a:xfrm>
            <a:off x="2304288" y="4937760"/>
            <a:ext cx="201168" cy="201168"/>
          </a:xfrm>
          <a:prstGeom prst="ellipse">
            <a:avLst/>
          </a:prstGeom>
          <a:solidFill>
            <a:srgbClr val="2A3A57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05895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0E1726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94360"/>
            <a:ext cx="292608" cy="2926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80160" y="38404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B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ANTI-PATTERN 1 · THE CRIME SCENE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1280160" y="621792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async def is not a force field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548640" y="1508760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FDECEF"/>
          </a:solidFill>
          <a:ln/>
        </p:spPr>
      </p:sp>
      <p:sp>
        <p:nvSpPr>
          <p:cNvPr id="8" name="Text 5"/>
          <p:cNvSpPr/>
          <p:nvPr/>
        </p:nvSpPr>
        <p:spPr>
          <a:xfrm>
            <a:off x="548640" y="1508760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48640" y="1920240"/>
            <a:ext cx="5577840" cy="1965960"/>
          </a:xfrm>
          <a:prstGeom prst="roundRect">
            <a:avLst>
              <a:gd name="adj" fmla="val 3721"/>
            </a:avLst>
          </a:prstGeom>
          <a:solidFill>
            <a:srgbClr val="111B2E"/>
          </a:solidFill>
          <a:ln/>
        </p:spPr>
      </p:sp>
      <p:sp>
        <p:nvSpPr>
          <p:cNvPr id="10" name="Shape 7"/>
          <p:cNvSpPr/>
          <p:nvPr/>
        </p:nvSpPr>
        <p:spPr>
          <a:xfrm>
            <a:off x="713232" y="2048256"/>
            <a:ext cx="91440" cy="91440"/>
          </a:xfrm>
          <a:prstGeom prst="ellipse">
            <a:avLst/>
          </a:prstGeom>
          <a:solidFill>
            <a:srgbClr val="ED6A5E"/>
          </a:solidFill>
          <a:ln/>
        </p:spPr>
      </p:sp>
      <p:sp>
        <p:nvSpPr>
          <p:cNvPr id="11" name="Shape 8"/>
          <p:cNvSpPr/>
          <p:nvPr/>
        </p:nvSpPr>
        <p:spPr>
          <a:xfrm>
            <a:off x="914400" y="2048256"/>
            <a:ext cx="91440" cy="91440"/>
          </a:xfrm>
          <a:prstGeom prst="ellipse">
            <a:avLst/>
          </a:prstGeom>
          <a:solidFill>
            <a:srgbClr val="F5BF4F"/>
          </a:solidFill>
          <a:ln/>
        </p:spPr>
      </p:sp>
      <p:sp>
        <p:nvSpPr>
          <p:cNvPr id="12" name="Shape 9"/>
          <p:cNvSpPr/>
          <p:nvPr/>
        </p:nvSpPr>
        <p:spPr>
          <a:xfrm>
            <a:off x="1115568" y="2048256"/>
            <a:ext cx="91440" cy="91440"/>
          </a:xfrm>
          <a:prstGeom prst="ellipse">
            <a:avLst/>
          </a:prstGeom>
          <a:solidFill>
            <a:srgbClr val="61C554"/>
          </a:solidFill>
          <a:ln/>
        </p:spPr>
      </p:sp>
      <p:sp>
        <p:nvSpPr>
          <p:cNvPr id="13" name="Text 10"/>
          <p:cNvSpPr/>
          <p:nvPr/>
        </p:nvSpPr>
        <p:spPr>
          <a:xfrm>
            <a:off x="777240" y="2240280"/>
            <a:ext cx="51206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8AA2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@router.get("/bad")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def blocking_call():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resp = requests.get(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49B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f"{GATEWAY}/delay/1", timeout=10)  # sync!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{"status": resp.status_code}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548640" y="4114800"/>
            <a:ext cx="5577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11D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requests.get()</a:t>
            </a:r>
            <a:pPr indent="0" marL="0">
              <a:buNone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never awaits. For its full duration it freezes the entire event loop — every in-flight request on this worker, not just this one.</a:t>
            </a:r>
            <a:endParaRPr lang="en-US" sz="1550" dirty="0"/>
          </a:p>
        </p:txBody>
      </p:sp>
      <p:sp>
        <p:nvSpPr>
          <p:cNvPr id="15" name="Shape 12"/>
          <p:cNvSpPr/>
          <p:nvPr/>
        </p:nvSpPr>
        <p:spPr>
          <a:xfrm>
            <a:off x="6492240" y="1508760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E7F8F1"/>
          </a:solidFill>
          <a:ln/>
        </p:spPr>
      </p:sp>
      <p:sp>
        <p:nvSpPr>
          <p:cNvPr id="16" name="Text 13"/>
          <p:cNvSpPr/>
          <p:nvPr/>
        </p:nvSpPr>
        <p:spPr>
          <a:xfrm>
            <a:off x="6492240" y="1508760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6492240" y="1920240"/>
            <a:ext cx="5212080" cy="1965960"/>
          </a:xfrm>
          <a:prstGeom prst="roundRect">
            <a:avLst>
              <a:gd name="adj" fmla="val 3721"/>
            </a:avLst>
          </a:prstGeom>
          <a:solidFill>
            <a:srgbClr val="111B2E"/>
          </a:solidFill>
          <a:ln/>
        </p:spPr>
      </p:sp>
      <p:sp>
        <p:nvSpPr>
          <p:cNvPr id="18" name="Shape 15"/>
          <p:cNvSpPr/>
          <p:nvPr/>
        </p:nvSpPr>
        <p:spPr>
          <a:xfrm>
            <a:off x="6656832" y="2048256"/>
            <a:ext cx="91440" cy="91440"/>
          </a:xfrm>
          <a:prstGeom prst="ellipse">
            <a:avLst/>
          </a:prstGeom>
          <a:solidFill>
            <a:srgbClr val="ED6A5E"/>
          </a:solidFill>
          <a:ln/>
        </p:spPr>
      </p:sp>
      <p:sp>
        <p:nvSpPr>
          <p:cNvPr id="19" name="Shape 16"/>
          <p:cNvSpPr/>
          <p:nvPr/>
        </p:nvSpPr>
        <p:spPr>
          <a:xfrm>
            <a:off x="6858000" y="2048256"/>
            <a:ext cx="91440" cy="91440"/>
          </a:xfrm>
          <a:prstGeom prst="ellipse">
            <a:avLst/>
          </a:prstGeom>
          <a:solidFill>
            <a:srgbClr val="F5BF4F"/>
          </a:solidFill>
          <a:ln/>
        </p:spPr>
      </p:sp>
      <p:sp>
        <p:nvSpPr>
          <p:cNvPr id="20" name="Shape 17"/>
          <p:cNvSpPr/>
          <p:nvPr/>
        </p:nvSpPr>
        <p:spPr>
          <a:xfrm>
            <a:off x="7059168" y="2048256"/>
            <a:ext cx="91440" cy="91440"/>
          </a:xfrm>
          <a:prstGeom prst="ellipse">
            <a:avLst/>
          </a:prstGeom>
          <a:solidFill>
            <a:srgbClr val="61C554"/>
          </a:solidFill>
          <a:ln/>
        </p:spPr>
      </p:sp>
      <p:sp>
        <p:nvSpPr>
          <p:cNvPr id="21" name="Text 18"/>
          <p:cNvSpPr/>
          <p:nvPr/>
        </p:nvSpPr>
        <p:spPr>
          <a:xfrm>
            <a:off x="6720840" y="2240280"/>
            <a:ext cx="47548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8AA2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@router.get("/good")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def async_call(request: Request):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client = request.app.state.http_client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8DE8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resp = await client.get(url)  # yields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{"status": resp.status_code}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6492240" y="4114800"/>
            <a:ext cx="5212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Async-native client (</a:t>
            </a:r>
            <a:pPr indent="0" marL="0">
              <a:buNone/>
            </a:pPr>
            <a:r>
              <a:rPr lang="en-US" sz="1550" b="1" dirty="0">
                <a:solidFill>
                  <a:srgbClr val="0B7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httpx</a:t>
            </a:r>
            <a:pPr indent="0" marL="0">
              <a:buNone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— or </a:t>
            </a:r>
            <a:pPr indent="0" marL="0">
              <a:buNone/>
            </a:pPr>
            <a:r>
              <a:rPr lang="en-US" sz="1550" b="1" dirty="0">
                <a:solidFill>
                  <a:srgbClr val="0B7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run_in_executor</a:t>
            </a:r>
            <a:pPr indent="0" marL="0">
              <a:buNone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as a migration bridge while a legacy sync library is still in place.</a:t>
            </a:r>
            <a:endParaRPr lang="en-US" sz="1550" dirty="0"/>
          </a:p>
        </p:txBody>
      </p:sp>
      <p:sp>
        <p:nvSpPr>
          <p:cNvPr id="23" name="Shape 20"/>
          <p:cNvSpPr/>
          <p:nvPr/>
        </p:nvSpPr>
        <p:spPr>
          <a:xfrm>
            <a:off x="548640" y="5394960"/>
            <a:ext cx="11155680" cy="9144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/>
        </p:spPr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5650992"/>
            <a:ext cx="384048" cy="384048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1417320" y="5394960"/>
            <a:ext cx="10149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— 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concurrent curls against each endpoint, gateway adds a 1s delay. Feel the difference before we measure it.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05895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0E1726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94360"/>
            <a:ext cx="292608" cy="2926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80160" y="38404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B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ANTI-PATTERN 1 · THE EVIDENCE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1280160" y="621792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3× slower — measured, not vibes</a:t>
            </a:r>
            <a:endParaRPr lang="en-US" sz="30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548640" y="1600200"/>
          <a:ext cx="658368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Shape 4"/>
          <p:cNvSpPr/>
          <p:nvPr/>
        </p:nvSpPr>
        <p:spPr>
          <a:xfrm>
            <a:off x="7498080" y="1600200"/>
            <a:ext cx="4114800" cy="1828800"/>
          </a:xfrm>
          <a:prstGeom prst="roundRect">
            <a:avLst>
              <a:gd name="adj" fmla="val 5000"/>
            </a:avLst>
          </a:prstGeom>
          <a:solidFill>
            <a:srgbClr val="FDECEF"/>
          </a:solidFill>
          <a:ln/>
        </p:spPr>
      </p:sp>
      <p:sp>
        <p:nvSpPr>
          <p:cNvPr id="9" name="Text 5"/>
          <p:cNvSpPr/>
          <p:nvPr/>
        </p:nvSpPr>
        <p:spPr>
          <a:xfrm>
            <a:off x="7772400" y="178308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11D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3.05s</a:t>
            </a:r>
            <a:endParaRPr lang="en-US" sz="4400" dirty="0"/>
          </a:p>
        </p:txBody>
      </p:sp>
      <p:sp>
        <p:nvSpPr>
          <p:cNvPr id="10" name="Text 6"/>
          <p:cNvSpPr/>
          <p:nvPr/>
        </p:nvSpPr>
        <p:spPr>
          <a:xfrm>
            <a:off x="7772400" y="260604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Serialized. The loop is held hostage — requests queue behind each other.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7498080" y="3611880"/>
            <a:ext cx="4114800" cy="1828800"/>
          </a:xfrm>
          <a:prstGeom prst="roundRect">
            <a:avLst>
              <a:gd name="adj" fmla="val 5000"/>
            </a:avLst>
          </a:prstGeom>
          <a:solidFill>
            <a:srgbClr val="E7F8F1"/>
          </a:solidFill>
          <a:ln/>
        </p:spPr>
      </p:sp>
      <p:sp>
        <p:nvSpPr>
          <p:cNvPr id="12" name="Text 8"/>
          <p:cNvSpPr/>
          <p:nvPr/>
        </p:nvSpPr>
        <p:spPr>
          <a:xfrm>
            <a:off x="7772400" y="379476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B7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1.04s</a:t>
            </a:r>
            <a:endParaRPr lang="en-US" sz="4400" dirty="0"/>
          </a:p>
        </p:txBody>
      </p:sp>
      <p:sp>
        <p:nvSpPr>
          <p:cNvPr id="13" name="Text 9"/>
          <p:cNvSpPr/>
          <p:nvPr/>
        </p:nvSpPr>
        <p:spPr>
          <a:xfrm>
            <a:off x="7772400" y="461772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Concurrent. All three requests overlap on one loop — async doing its job.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548640" y="5715000"/>
            <a:ext cx="11064240" cy="731520"/>
          </a:xfrm>
          <a:prstGeom prst="roundRect">
            <a:avLst>
              <a:gd name="adj" fmla="val 12500"/>
            </a:avLst>
          </a:prstGeom>
          <a:solidFill>
            <a:srgbClr val="0E1726"/>
          </a:solidFill>
          <a:ln/>
        </p:spPr>
      </p:sp>
      <p:sp>
        <p:nvSpPr>
          <p:cNvPr id="15" name="Text 11"/>
          <p:cNvSpPr/>
          <p:nvPr/>
        </p:nvSpPr>
        <p:spPr>
          <a:xfrm>
            <a:off x="868680" y="571500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detector: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PYTHONASYNCIODEBUG=1 →  “Executing &lt;Task …&gt; took 1.056 seconds” — asyncio itself tells you where the loop got stuck.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05895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1554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ANTI-PATTERN 2 OF 5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22960" y="2057400"/>
            <a:ext cx="8778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Dependency injection lifecycle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41248" y="365760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9F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Depends() is powerful — and nothing stops you from rebuilding the world on every request.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9646920" y="2148840"/>
            <a:ext cx="1554480" cy="1554480"/>
          </a:xfrm>
          <a:prstGeom prst="ellipse">
            <a:avLst/>
          </a:prstGeom>
          <a:solidFill>
            <a:srgbClr val="16233A"/>
          </a:solidFill>
          <a:ln w="19050">
            <a:solidFill>
              <a:srgbClr val="10B981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40112" y="2542032"/>
            <a:ext cx="777240" cy="7772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841248" y="4937760"/>
            <a:ext cx="201168" cy="201168"/>
          </a:xfrm>
          <a:prstGeom prst="ellipse">
            <a:avLst/>
          </a:prstGeom>
          <a:solidFill>
            <a:srgbClr val="2A3A57"/>
          </a:solidFill>
          <a:ln/>
        </p:spPr>
      </p:sp>
      <p:sp>
        <p:nvSpPr>
          <p:cNvPr id="9" name="Shape 6"/>
          <p:cNvSpPr/>
          <p:nvPr/>
        </p:nvSpPr>
        <p:spPr>
          <a:xfrm>
            <a:off x="1207008" y="4937760"/>
            <a:ext cx="201168" cy="20116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0" name="Shape 7"/>
          <p:cNvSpPr/>
          <p:nvPr/>
        </p:nvSpPr>
        <p:spPr>
          <a:xfrm>
            <a:off x="1572768" y="4937760"/>
            <a:ext cx="201168" cy="201168"/>
          </a:xfrm>
          <a:prstGeom prst="ellipse">
            <a:avLst/>
          </a:prstGeom>
          <a:solidFill>
            <a:srgbClr val="2A3A57"/>
          </a:solidFill>
          <a:ln/>
        </p:spPr>
      </p:sp>
      <p:sp>
        <p:nvSpPr>
          <p:cNvPr id="11" name="Shape 8"/>
          <p:cNvSpPr/>
          <p:nvPr/>
        </p:nvSpPr>
        <p:spPr>
          <a:xfrm>
            <a:off x="1938528" y="4937760"/>
            <a:ext cx="201168" cy="201168"/>
          </a:xfrm>
          <a:prstGeom prst="ellipse">
            <a:avLst/>
          </a:prstGeom>
          <a:solidFill>
            <a:srgbClr val="2A3A57"/>
          </a:solidFill>
          <a:ln/>
        </p:spPr>
      </p:sp>
      <p:sp>
        <p:nvSpPr>
          <p:cNvPr id="12" name="Shape 9"/>
          <p:cNvSpPr/>
          <p:nvPr/>
        </p:nvSpPr>
        <p:spPr>
          <a:xfrm>
            <a:off x="2304288" y="4937760"/>
            <a:ext cx="201168" cy="201168"/>
          </a:xfrm>
          <a:prstGeom prst="ellipse">
            <a:avLst/>
          </a:prstGeom>
          <a:solidFill>
            <a:srgbClr val="2A3A57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05895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0E1726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94360"/>
            <a:ext cx="292608" cy="2926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80160" y="38404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B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ANTI-PATTERN 2 · PROBLEM &amp; FIX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1280160" y="621792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once in the lifespan, not per request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548640" y="1463040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FDECEF"/>
          </a:solidFill>
          <a:ln/>
        </p:spPr>
      </p:sp>
      <p:sp>
        <p:nvSpPr>
          <p:cNvPr id="8" name="Text 5"/>
          <p:cNvSpPr/>
          <p:nvPr/>
        </p:nvSpPr>
        <p:spPr>
          <a:xfrm>
            <a:off x="548640" y="1463040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48640" y="1874520"/>
            <a:ext cx="5486400" cy="1783080"/>
          </a:xfrm>
          <a:prstGeom prst="roundRect">
            <a:avLst>
              <a:gd name="adj" fmla="val 4103"/>
            </a:avLst>
          </a:prstGeom>
          <a:solidFill>
            <a:srgbClr val="111B2E"/>
          </a:solidFill>
          <a:ln/>
        </p:spPr>
      </p:sp>
      <p:sp>
        <p:nvSpPr>
          <p:cNvPr id="10" name="Shape 7"/>
          <p:cNvSpPr/>
          <p:nvPr/>
        </p:nvSpPr>
        <p:spPr>
          <a:xfrm>
            <a:off x="713232" y="2002536"/>
            <a:ext cx="91440" cy="91440"/>
          </a:xfrm>
          <a:prstGeom prst="ellipse">
            <a:avLst/>
          </a:prstGeom>
          <a:solidFill>
            <a:srgbClr val="ED6A5E"/>
          </a:solidFill>
          <a:ln/>
        </p:spPr>
      </p:sp>
      <p:sp>
        <p:nvSpPr>
          <p:cNvPr id="11" name="Shape 8"/>
          <p:cNvSpPr/>
          <p:nvPr/>
        </p:nvSpPr>
        <p:spPr>
          <a:xfrm>
            <a:off x="914400" y="2002536"/>
            <a:ext cx="91440" cy="91440"/>
          </a:xfrm>
          <a:prstGeom prst="ellipse">
            <a:avLst/>
          </a:prstGeom>
          <a:solidFill>
            <a:srgbClr val="F5BF4F"/>
          </a:solidFill>
          <a:ln/>
        </p:spPr>
      </p:sp>
      <p:sp>
        <p:nvSpPr>
          <p:cNvPr id="12" name="Shape 9"/>
          <p:cNvSpPr/>
          <p:nvPr/>
        </p:nvSpPr>
        <p:spPr>
          <a:xfrm>
            <a:off x="1115568" y="2002536"/>
            <a:ext cx="91440" cy="91440"/>
          </a:xfrm>
          <a:prstGeom prst="ellipse">
            <a:avLst/>
          </a:prstGeom>
          <a:solidFill>
            <a:srgbClr val="61C554"/>
          </a:solidFill>
          <a:ln/>
        </p:spPr>
      </p:sp>
      <p:sp>
        <p:nvSpPr>
          <p:cNvPr id="13" name="Text 10"/>
          <p:cNvSpPr/>
          <p:nvPr/>
        </p:nvSpPr>
        <p:spPr>
          <a:xfrm>
            <a:off x="777240" y="2194560"/>
            <a:ext cx="50292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def get_bad_db_session():</a:t>
            </a: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49B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engine = build_engine(settings)  # new pool</a:t>
            </a: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async with sessionmaker(engine)() as s:</a:t>
            </a: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yield s</a:t>
            </a: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49B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await engine.dispose()  # ...and torn down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548640" y="3794760"/>
            <a:ext cx="5486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fresh engine means a fresh TCP + auth handshake to Postgres — paid on every single request, hidden behind tidy-looking DI.</a:t>
            </a:r>
            <a:endParaRPr lang="en-US" sz="1450" dirty="0"/>
          </a:p>
        </p:txBody>
      </p:sp>
      <p:sp>
        <p:nvSpPr>
          <p:cNvPr id="15" name="Shape 12"/>
          <p:cNvSpPr/>
          <p:nvPr/>
        </p:nvSpPr>
        <p:spPr>
          <a:xfrm>
            <a:off x="6400800" y="1463040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E7F8F1"/>
          </a:solidFill>
          <a:ln/>
        </p:spPr>
      </p:sp>
      <p:sp>
        <p:nvSpPr>
          <p:cNvPr id="16" name="Text 13"/>
          <p:cNvSpPr/>
          <p:nvPr/>
        </p:nvSpPr>
        <p:spPr>
          <a:xfrm>
            <a:off x="6400800" y="1463040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6400800" y="1874520"/>
            <a:ext cx="5303520" cy="1783080"/>
          </a:xfrm>
          <a:prstGeom prst="roundRect">
            <a:avLst>
              <a:gd name="adj" fmla="val 4103"/>
            </a:avLst>
          </a:prstGeom>
          <a:solidFill>
            <a:srgbClr val="111B2E"/>
          </a:solidFill>
          <a:ln/>
        </p:spPr>
      </p:sp>
      <p:sp>
        <p:nvSpPr>
          <p:cNvPr id="18" name="Shape 15"/>
          <p:cNvSpPr/>
          <p:nvPr/>
        </p:nvSpPr>
        <p:spPr>
          <a:xfrm>
            <a:off x="6565392" y="2002536"/>
            <a:ext cx="91440" cy="91440"/>
          </a:xfrm>
          <a:prstGeom prst="ellipse">
            <a:avLst/>
          </a:prstGeom>
          <a:solidFill>
            <a:srgbClr val="ED6A5E"/>
          </a:solidFill>
          <a:ln/>
        </p:spPr>
      </p:sp>
      <p:sp>
        <p:nvSpPr>
          <p:cNvPr id="19" name="Shape 16"/>
          <p:cNvSpPr/>
          <p:nvPr/>
        </p:nvSpPr>
        <p:spPr>
          <a:xfrm>
            <a:off x="6766560" y="2002536"/>
            <a:ext cx="91440" cy="91440"/>
          </a:xfrm>
          <a:prstGeom prst="ellipse">
            <a:avLst/>
          </a:prstGeom>
          <a:solidFill>
            <a:srgbClr val="F5BF4F"/>
          </a:solidFill>
          <a:ln/>
        </p:spPr>
      </p:sp>
      <p:sp>
        <p:nvSpPr>
          <p:cNvPr id="20" name="Shape 17"/>
          <p:cNvSpPr/>
          <p:nvPr/>
        </p:nvSpPr>
        <p:spPr>
          <a:xfrm>
            <a:off x="6967728" y="2002536"/>
            <a:ext cx="91440" cy="91440"/>
          </a:xfrm>
          <a:prstGeom prst="ellipse">
            <a:avLst/>
          </a:prstGeom>
          <a:solidFill>
            <a:srgbClr val="61C554"/>
          </a:solidFill>
          <a:ln/>
        </p:spPr>
      </p:sp>
      <p:sp>
        <p:nvSpPr>
          <p:cNvPr id="21" name="Text 18"/>
          <p:cNvSpPr/>
          <p:nvPr/>
        </p:nvSpPr>
        <p:spPr>
          <a:xfrm>
            <a:off x="6629400" y="2194560"/>
            <a:ext cx="48463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AA2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@asynccontextmanager</a:t>
            </a: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def lifespan(app):</a:t>
            </a: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DE8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app.state.sessionmaker = build_once()</a:t>
            </a: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DE8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app.state.http_client = httpx.AsyncClient()</a:t>
            </a: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yield  # dispose on shutdown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6400800" y="3794760"/>
            <a:ext cx="5303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Singletons live in the lifespan; requests borrow them via </a:t>
            </a:r>
            <a:pPr indent="0" marL="0">
              <a:buNone/>
            </a:pPr>
            <a:r>
              <a:rPr lang="en-US" sz="1450" b="1" dirty="0">
                <a:solidFill>
                  <a:srgbClr val="0B7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Annotated[T, Depends(...)]</a:t>
            </a:r>
            <a:pPr indent="0" marL="0">
              <a:buNone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yield-dependencies.</a:t>
            </a:r>
            <a:endParaRPr lang="en-US" sz="1450" dirty="0"/>
          </a:p>
        </p:txBody>
      </p:sp>
      <p:sp>
        <p:nvSpPr>
          <p:cNvPr id="23" name="Shape 20"/>
          <p:cNvSpPr/>
          <p:nvPr/>
        </p:nvSpPr>
        <p:spPr>
          <a:xfrm>
            <a:off x="548640" y="4892040"/>
            <a:ext cx="3566160" cy="1417320"/>
          </a:xfrm>
          <a:prstGeom prst="roundRect">
            <a:avLst>
              <a:gd name="adj" fmla="val 6452"/>
            </a:avLst>
          </a:prstGeom>
          <a:solidFill>
            <a:srgbClr val="FDECEF"/>
          </a:solidFill>
          <a:ln/>
        </p:spPr>
      </p:sp>
      <p:sp>
        <p:nvSpPr>
          <p:cNvPr id="24" name="Text 21"/>
          <p:cNvSpPr/>
          <p:nvPr/>
        </p:nvSpPr>
        <p:spPr>
          <a:xfrm>
            <a:off x="822960" y="502920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11D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17.5ms</a:t>
            </a:r>
            <a:endParaRPr lang="en-US" sz="3400" dirty="0"/>
          </a:p>
        </p:txBody>
      </p:sp>
      <p:sp>
        <p:nvSpPr>
          <p:cNvPr id="25" name="Text 22"/>
          <p:cNvSpPr/>
          <p:nvPr/>
        </p:nvSpPr>
        <p:spPr>
          <a:xfrm>
            <a:off x="822960" y="5687568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latency, per-request engine</a:t>
            </a:r>
            <a:endParaRPr lang="en-US" sz="1250" dirty="0"/>
          </a:p>
        </p:txBody>
      </p:sp>
      <p:sp>
        <p:nvSpPr>
          <p:cNvPr id="26" name="Shape 23"/>
          <p:cNvSpPr/>
          <p:nvPr/>
        </p:nvSpPr>
        <p:spPr>
          <a:xfrm>
            <a:off x="4343400" y="4892040"/>
            <a:ext cx="3566160" cy="1417320"/>
          </a:xfrm>
          <a:prstGeom prst="roundRect">
            <a:avLst>
              <a:gd name="adj" fmla="val 6452"/>
            </a:avLst>
          </a:prstGeom>
          <a:solidFill>
            <a:srgbClr val="E7F8F1"/>
          </a:solidFill>
          <a:ln/>
        </p:spPr>
      </p:sp>
      <p:sp>
        <p:nvSpPr>
          <p:cNvPr id="27" name="Text 24"/>
          <p:cNvSpPr/>
          <p:nvPr/>
        </p:nvSpPr>
        <p:spPr>
          <a:xfrm>
            <a:off x="4617720" y="502920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7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1.7ms</a:t>
            </a:r>
            <a:endParaRPr lang="en-US" sz="3400" dirty="0"/>
          </a:p>
        </p:txBody>
      </p:sp>
      <p:sp>
        <p:nvSpPr>
          <p:cNvPr id="28" name="Text 25"/>
          <p:cNvSpPr/>
          <p:nvPr/>
        </p:nvSpPr>
        <p:spPr>
          <a:xfrm>
            <a:off x="4617720" y="5687568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latency, shared singletons</a:t>
            </a:r>
            <a:endParaRPr lang="en-US" sz="1250" dirty="0"/>
          </a:p>
        </p:txBody>
      </p:sp>
      <p:sp>
        <p:nvSpPr>
          <p:cNvPr id="29" name="Shape 26"/>
          <p:cNvSpPr/>
          <p:nvPr/>
        </p:nvSpPr>
        <p:spPr>
          <a:xfrm>
            <a:off x="8138160" y="4892040"/>
            <a:ext cx="3566160" cy="1417320"/>
          </a:xfrm>
          <a:prstGeom prst="roundRect">
            <a:avLst>
              <a:gd name="adj" fmla="val 6452"/>
            </a:avLst>
          </a:prstGeom>
          <a:solidFill>
            <a:srgbClr val="F1F5F9"/>
          </a:solidFill>
          <a:ln/>
        </p:spPr>
      </p:sp>
      <p:sp>
        <p:nvSpPr>
          <p:cNvPr id="30" name="Text 27"/>
          <p:cNvSpPr/>
          <p:nvPr/>
        </p:nvSpPr>
        <p:spPr>
          <a:xfrm>
            <a:off x="8412480" y="502920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17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~10×</a:t>
            </a:r>
            <a:endParaRPr lang="en-US" sz="3400" dirty="0"/>
          </a:p>
        </p:txBody>
      </p:sp>
      <p:sp>
        <p:nvSpPr>
          <p:cNvPr id="31" name="Text 28"/>
          <p:cNvSpPr/>
          <p:nvPr/>
        </p:nvSpPr>
        <p:spPr>
          <a:xfrm>
            <a:off x="8412480" y="5687568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overhead removed by one refactor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05895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1554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ANTI-PATTERN 3 OF 5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22960" y="2057400"/>
            <a:ext cx="8778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SQLAlchemy lazy loading in async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41248" y="365760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9F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failure modes: it crashes loudly — or it “works” and quietly costs you N+1.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9646920" y="2148840"/>
            <a:ext cx="1554480" cy="1554480"/>
          </a:xfrm>
          <a:prstGeom prst="ellipse">
            <a:avLst/>
          </a:prstGeom>
          <a:solidFill>
            <a:srgbClr val="16233A"/>
          </a:solidFill>
          <a:ln w="19050">
            <a:solidFill>
              <a:srgbClr val="10B981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40112" y="2542032"/>
            <a:ext cx="777240" cy="7772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841248" y="4937760"/>
            <a:ext cx="201168" cy="201168"/>
          </a:xfrm>
          <a:prstGeom prst="ellipse">
            <a:avLst/>
          </a:prstGeom>
          <a:solidFill>
            <a:srgbClr val="2A3A57"/>
          </a:solidFill>
          <a:ln/>
        </p:spPr>
      </p:sp>
      <p:sp>
        <p:nvSpPr>
          <p:cNvPr id="9" name="Shape 6"/>
          <p:cNvSpPr/>
          <p:nvPr/>
        </p:nvSpPr>
        <p:spPr>
          <a:xfrm>
            <a:off x="1207008" y="4937760"/>
            <a:ext cx="201168" cy="201168"/>
          </a:xfrm>
          <a:prstGeom prst="ellipse">
            <a:avLst/>
          </a:prstGeom>
          <a:solidFill>
            <a:srgbClr val="2A3A57"/>
          </a:solidFill>
          <a:ln/>
        </p:spPr>
      </p:sp>
      <p:sp>
        <p:nvSpPr>
          <p:cNvPr id="10" name="Shape 7"/>
          <p:cNvSpPr/>
          <p:nvPr/>
        </p:nvSpPr>
        <p:spPr>
          <a:xfrm>
            <a:off x="1572768" y="4937760"/>
            <a:ext cx="201168" cy="20116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1" name="Shape 8"/>
          <p:cNvSpPr/>
          <p:nvPr/>
        </p:nvSpPr>
        <p:spPr>
          <a:xfrm>
            <a:off x="1938528" y="4937760"/>
            <a:ext cx="201168" cy="201168"/>
          </a:xfrm>
          <a:prstGeom prst="ellipse">
            <a:avLst/>
          </a:prstGeom>
          <a:solidFill>
            <a:srgbClr val="2A3A57"/>
          </a:solidFill>
          <a:ln/>
        </p:spPr>
      </p:sp>
      <p:sp>
        <p:nvSpPr>
          <p:cNvPr id="12" name="Shape 9"/>
          <p:cNvSpPr/>
          <p:nvPr/>
        </p:nvSpPr>
        <p:spPr>
          <a:xfrm>
            <a:off x="2304288" y="4937760"/>
            <a:ext cx="201168" cy="201168"/>
          </a:xfrm>
          <a:prstGeom prst="ellipse">
            <a:avLst/>
          </a:prstGeom>
          <a:solidFill>
            <a:srgbClr val="2A3A57"/>
          </a:solidFill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05895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0E1726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94360"/>
            <a:ext cx="292608" cy="2926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80160" y="38404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B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ANTI-PATTERN 3 · TWO WAYS TO LOSE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1280160" y="621792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Crash loudly, or pay N+1 quietly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548640" y="1463040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FDECEF"/>
          </a:solidFill>
          <a:ln/>
        </p:spPr>
      </p:sp>
      <p:sp>
        <p:nvSpPr>
          <p:cNvPr id="8" name="Text 5"/>
          <p:cNvSpPr/>
          <p:nvPr/>
        </p:nvSpPr>
        <p:spPr>
          <a:xfrm>
            <a:off x="548640" y="1463040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645920" y="1463040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mode 1 — it crashes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48640" y="1874520"/>
            <a:ext cx="5486400" cy="1463040"/>
          </a:xfrm>
          <a:prstGeom prst="roundRect">
            <a:avLst>
              <a:gd name="adj" fmla="val 5000"/>
            </a:avLst>
          </a:prstGeom>
          <a:solidFill>
            <a:srgbClr val="111B2E"/>
          </a:solidFill>
          <a:ln/>
        </p:spPr>
      </p:sp>
      <p:sp>
        <p:nvSpPr>
          <p:cNvPr id="11" name="Shape 8"/>
          <p:cNvSpPr/>
          <p:nvPr/>
        </p:nvSpPr>
        <p:spPr>
          <a:xfrm>
            <a:off x="713232" y="2002536"/>
            <a:ext cx="91440" cy="91440"/>
          </a:xfrm>
          <a:prstGeom prst="ellipse">
            <a:avLst/>
          </a:prstGeom>
          <a:solidFill>
            <a:srgbClr val="ED6A5E"/>
          </a:solidFill>
          <a:ln/>
        </p:spPr>
      </p:sp>
      <p:sp>
        <p:nvSpPr>
          <p:cNvPr id="12" name="Shape 9"/>
          <p:cNvSpPr/>
          <p:nvPr/>
        </p:nvSpPr>
        <p:spPr>
          <a:xfrm>
            <a:off x="914400" y="2002536"/>
            <a:ext cx="91440" cy="91440"/>
          </a:xfrm>
          <a:prstGeom prst="ellipse">
            <a:avLst/>
          </a:prstGeom>
          <a:solidFill>
            <a:srgbClr val="F5BF4F"/>
          </a:solidFill>
          <a:ln/>
        </p:spPr>
      </p:sp>
      <p:sp>
        <p:nvSpPr>
          <p:cNvPr id="13" name="Shape 10"/>
          <p:cNvSpPr/>
          <p:nvPr/>
        </p:nvSpPr>
        <p:spPr>
          <a:xfrm>
            <a:off x="1115568" y="2002536"/>
            <a:ext cx="91440" cy="91440"/>
          </a:xfrm>
          <a:prstGeom prst="ellipse">
            <a:avLst/>
          </a:prstGeom>
          <a:solidFill>
            <a:srgbClr val="61C554"/>
          </a:solidFill>
          <a:ln/>
        </p:spPr>
      </p:sp>
      <p:sp>
        <p:nvSpPr>
          <p:cNvPr id="14" name="Text 11"/>
          <p:cNvSpPr/>
          <p:nvPr/>
        </p:nvSpPr>
        <p:spPr>
          <a:xfrm>
            <a:off x="777240" y="2194560"/>
            <a:ext cx="5029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orders = (await session.execute(</a:t>
            </a: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select(Order).limit(3))).scalars().all()</a:t>
            </a: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49B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counts = [len(o.items) for o in orders]  # boom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548640" y="3474720"/>
            <a:ext cx="5486400" cy="1051560"/>
          </a:xfrm>
          <a:prstGeom prst="roundRect">
            <a:avLst>
              <a:gd name="adj" fmla="val 6957"/>
            </a:avLst>
          </a:prstGeom>
          <a:solidFill>
            <a:srgbClr val="FDECEF"/>
          </a:solidFill>
          <a:ln/>
        </p:spPr>
      </p:sp>
      <p:sp>
        <p:nvSpPr>
          <p:cNvPr id="16" name="Text 13"/>
          <p:cNvSpPr/>
          <p:nvPr/>
        </p:nvSpPr>
        <p:spPr>
          <a:xfrm>
            <a:off x="822960" y="3566160"/>
            <a:ext cx="5029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11D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MissingGreenlet: </a:t>
            </a:r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“greenlet_spawn has not been called … Was IO attempted in an unexpected place?” — a real captured API response, not a mock-up.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6400800" y="1463040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FDECEF"/>
          </a:solidFill>
          <a:ln/>
        </p:spPr>
      </p:sp>
      <p:sp>
        <p:nvSpPr>
          <p:cNvPr id="18" name="Text 15"/>
          <p:cNvSpPr/>
          <p:nvPr/>
        </p:nvSpPr>
        <p:spPr>
          <a:xfrm>
            <a:off x="6400800" y="1463040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WORSE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7498080" y="1463040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mode 2 — it “works”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6400800" y="1874520"/>
            <a:ext cx="5303520" cy="1463040"/>
          </a:xfrm>
          <a:prstGeom prst="roundRect">
            <a:avLst>
              <a:gd name="adj" fmla="val 5000"/>
            </a:avLst>
          </a:prstGeom>
          <a:solidFill>
            <a:srgbClr val="111B2E"/>
          </a:solidFill>
          <a:ln/>
        </p:spPr>
      </p:sp>
      <p:sp>
        <p:nvSpPr>
          <p:cNvPr id="21" name="Shape 18"/>
          <p:cNvSpPr/>
          <p:nvPr/>
        </p:nvSpPr>
        <p:spPr>
          <a:xfrm>
            <a:off x="6565392" y="2002536"/>
            <a:ext cx="91440" cy="91440"/>
          </a:xfrm>
          <a:prstGeom prst="ellipse">
            <a:avLst/>
          </a:prstGeom>
          <a:solidFill>
            <a:srgbClr val="ED6A5E"/>
          </a:solidFill>
          <a:ln/>
        </p:spPr>
      </p:sp>
      <p:sp>
        <p:nvSpPr>
          <p:cNvPr id="22" name="Shape 19"/>
          <p:cNvSpPr/>
          <p:nvPr/>
        </p:nvSpPr>
        <p:spPr>
          <a:xfrm>
            <a:off x="6766560" y="2002536"/>
            <a:ext cx="91440" cy="91440"/>
          </a:xfrm>
          <a:prstGeom prst="ellipse">
            <a:avLst/>
          </a:prstGeom>
          <a:solidFill>
            <a:srgbClr val="F5BF4F"/>
          </a:solidFill>
          <a:ln/>
        </p:spPr>
      </p:sp>
      <p:sp>
        <p:nvSpPr>
          <p:cNvPr id="23" name="Shape 20"/>
          <p:cNvSpPr/>
          <p:nvPr/>
        </p:nvSpPr>
        <p:spPr>
          <a:xfrm>
            <a:off x="6967728" y="2002536"/>
            <a:ext cx="91440" cy="91440"/>
          </a:xfrm>
          <a:prstGeom prst="ellipse">
            <a:avLst/>
          </a:prstGeom>
          <a:solidFill>
            <a:srgbClr val="61C554"/>
          </a:solidFill>
          <a:ln/>
        </p:spPr>
      </p:sp>
      <p:sp>
        <p:nvSpPr>
          <p:cNvPr id="24" name="Text 21"/>
          <p:cNvSpPr/>
          <p:nvPr/>
        </p:nvSpPr>
        <p:spPr>
          <a:xfrm>
            <a:off x="6629400" y="219456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order in orders:</a:t>
            </a: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49B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items = await order.awaitable_attrs.items</a:t>
            </a: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AA2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one query PER order — N+1</a:t>
            </a:r>
            <a:endParaRPr lang="en-US" sz="1250" dirty="0"/>
          </a:p>
        </p:txBody>
      </p:sp>
      <p:sp>
        <p:nvSpPr>
          <p:cNvPr id="25" name="Text 22"/>
          <p:cNvSpPr/>
          <p:nvPr/>
        </p:nvSpPr>
        <p:spPr>
          <a:xfrm>
            <a:off x="6400800" y="352044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Identical results, no error, passes code review. Only the SQL log knows.</a:t>
            </a:r>
            <a:endParaRPr lang="en-US" sz="1350" dirty="0"/>
          </a:p>
        </p:txBody>
      </p:sp>
      <p:sp>
        <p:nvSpPr>
          <p:cNvPr id="26" name="Text 23"/>
          <p:cNvSpPr/>
          <p:nvPr/>
        </p:nvSpPr>
        <p:spPr>
          <a:xfrm>
            <a:off x="548640" y="47091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Queries issued for 5 orders (real echo=True log):</a:t>
            </a:r>
            <a:endParaRPr lang="en-US" sz="1350" dirty="0"/>
          </a:p>
        </p:txBody>
      </p:sp>
      <p:sp>
        <p:nvSpPr>
          <p:cNvPr id="27" name="Text 24"/>
          <p:cNvSpPr/>
          <p:nvPr/>
        </p:nvSpPr>
        <p:spPr>
          <a:xfrm>
            <a:off x="548640" y="5138928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lazy loop</a:t>
            </a:r>
            <a:endParaRPr lang="en-US" sz="1250" dirty="0"/>
          </a:p>
        </p:txBody>
      </p:sp>
      <p:sp>
        <p:nvSpPr>
          <p:cNvPr id="28" name="Shape 25"/>
          <p:cNvSpPr/>
          <p:nvPr/>
        </p:nvSpPr>
        <p:spPr>
          <a:xfrm>
            <a:off x="1828800" y="5138928"/>
            <a:ext cx="475488" cy="384048"/>
          </a:xfrm>
          <a:prstGeom prst="roundRect">
            <a:avLst>
              <a:gd name="adj" fmla="val 14286"/>
            </a:avLst>
          </a:prstGeom>
          <a:solidFill>
            <a:srgbClr val="E11D48"/>
          </a:solidFill>
          <a:ln/>
        </p:spPr>
      </p:sp>
      <p:sp>
        <p:nvSpPr>
          <p:cNvPr id="29" name="Shape 26"/>
          <p:cNvSpPr/>
          <p:nvPr/>
        </p:nvSpPr>
        <p:spPr>
          <a:xfrm>
            <a:off x="2395728" y="5138928"/>
            <a:ext cx="475488" cy="384048"/>
          </a:xfrm>
          <a:prstGeom prst="roundRect">
            <a:avLst>
              <a:gd name="adj" fmla="val 14286"/>
            </a:avLst>
          </a:prstGeom>
          <a:solidFill>
            <a:srgbClr val="E11D48"/>
          </a:solidFill>
          <a:ln/>
        </p:spPr>
      </p:sp>
      <p:sp>
        <p:nvSpPr>
          <p:cNvPr id="30" name="Shape 27"/>
          <p:cNvSpPr/>
          <p:nvPr/>
        </p:nvSpPr>
        <p:spPr>
          <a:xfrm>
            <a:off x="2962656" y="5138928"/>
            <a:ext cx="475488" cy="384048"/>
          </a:xfrm>
          <a:prstGeom prst="roundRect">
            <a:avLst>
              <a:gd name="adj" fmla="val 14286"/>
            </a:avLst>
          </a:prstGeom>
          <a:solidFill>
            <a:srgbClr val="E11D48"/>
          </a:solidFill>
          <a:ln/>
        </p:spPr>
      </p:sp>
      <p:sp>
        <p:nvSpPr>
          <p:cNvPr id="31" name="Shape 28"/>
          <p:cNvSpPr/>
          <p:nvPr/>
        </p:nvSpPr>
        <p:spPr>
          <a:xfrm>
            <a:off x="3529584" y="5138928"/>
            <a:ext cx="475488" cy="384048"/>
          </a:xfrm>
          <a:prstGeom prst="roundRect">
            <a:avLst>
              <a:gd name="adj" fmla="val 14286"/>
            </a:avLst>
          </a:prstGeom>
          <a:solidFill>
            <a:srgbClr val="E11D48"/>
          </a:solidFill>
          <a:ln/>
        </p:spPr>
      </p:sp>
      <p:sp>
        <p:nvSpPr>
          <p:cNvPr id="32" name="Shape 29"/>
          <p:cNvSpPr/>
          <p:nvPr/>
        </p:nvSpPr>
        <p:spPr>
          <a:xfrm>
            <a:off x="4096512" y="5138928"/>
            <a:ext cx="475488" cy="384048"/>
          </a:xfrm>
          <a:prstGeom prst="roundRect">
            <a:avLst>
              <a:gd name="adj" fmla="val 14286"/>
            </a:avLst>
          </a:prstGeom>
          <a:solidFill>
            <a:srgbClr val="E11D48"/>
          </a:solidFill>
          <a:ln/>
        </p:spPr>
      </p:sp>
      <p:sp>
        <p:nvSpPr>
          <p:cNvPr id="33" name="Shape 30"/>
          <p:cNvSpPr/>
          <p:nvPr/>
        </p:nvSpPr>
        <p:spPr>
          <a:xfrm>
            <a:off x="4663440" y="5138928"/>
            <a:ext cx="475488" cy="384048"/>
          </a:xfrm>
          <a:prstGeom prst="roundRect">
            <a:avLst>
              <a:gd name="adj" fmla="val 14286"/>
            </a:avLst>
          </a:prstGeom>
          <a:solidFill>
            <a:srgbClr val="E11D48"/>
          </a:solidFill>
          <a:ln/>
        </p:spPr>
      </p:sp>
      <p:sp>
        <p:nvSpPr>
          <p:cNvPr id="34" name="Text 31"/>
          <p:cNvSpPr/>
          <p:nvPr/>
        </p:nvSpPr>
        <p:spPr>
          <a:xfrm>
            <a:off x="5349240" y="5138928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11D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800" dirty="0"/>
          </a:p>
        </p:txBody>
      </p:sp>
      <p:sp>
        <p:nvSpPr>
          <p:cNvPr id="35" name="Text 32"/>
          <p:cNvSpPr/>
          <p:nvPr/>
        </p:nvSpPr>
        <p:spPr>
          <a:xfrm>
            <a:off x="548640" y="5687568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selectinload</a:t>
            </a:r>
            <a:endParaRPr lang="en-US" sz="1250" dirty="0"/>
          </a:p>
        </p:txBody>
      </p:sp>
      <p:sp>
        <p:nvSpPr>
          <p:cNvPr id="36" name="Shape 33"/>
          <p:cNvSpPr/>
          <p:nvPr/>
        </p:nvSpPr>
        <p:spPr>
          <a:xfrm>
            <a:off x="1828800" y="5687568"/>
            <a:ext cx="475488" cy="384048"/>
          </a:xfrm>
          <a:prstGeom prst="roundRect">
            <a:avLst>
              <a:gd name="adj" fmla="val 14286"/>
            </a:avLst>
          </a:prstGeom>
          <a:solidFill>
            <a:srgbClr val="10B981"/>
          </a:solidFill>
          <a:ln/>
        </p:spPr>
      </p:sp>
      <p:sp>
        <p:nvSpPr>
          <p:cNvPr id="37" name="Shape 34"/>
          <p:cNvSpPr/>
          <p:nvPr/>
        </p:nvSpPr>
        <p:spPr>
          <a:xfrm>
            <a:off x="2395728" y="5687568"/>
            <a:ext cx="475488" cy="384048"/>
          </a:xfrm>
          <a:prstGeom prst="roundRect">
            <a:avLst>
              <a:gd name="adj" fmla="val 14286"/>
            </a:avLst>
          </a:prstGeom>
          <a:solidFill>
            <a:srgbClr val="10B981"/>
          </a:solidFill>
          <a:ln/>
        </p:spPr>
      </p:sp>
      <p:sp>
        <p:nvSpPr>
          <p:cNvPr id="38" name="Text 35"/>
          <p:cNvSpPr/>
          <p:nvPr/>
        </p:nvSpPr>
        <p:spPr>
          <a:xfrm>
            <a:off x="5349240" y="5687568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7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39" name="Shape 36"/>
          <p:cNvSpPr/>
          <p:nvPr/>
        </p:nvSpPr>
        <p:spPr>
          <a:xfrm>
            <a:off x="6400800" y="4434840"/>
            <a:ext cx="5303520" cy="1783080"/>
          </a:xfrm>
          <a:prstGeom prst="roundRect">
            <a:avLst>
              <a:gd name="adj" fmla="val 5128"/>
            </a:avLst>
          </a:prstGeom>
          <a:solidFill>
            <a:srgbClr val="0E1726"/>
          </a:solidFill>
          <a:ln/>
        </p:spPr>
      </p:sp>
      <p:sp>
        <p:nvSpPr>
          <p:cNvPr id="40" name="Text 37"/>
          <p:cNvSpPr/>
          <p:nvPr/>
        </p:nvSpPr>
        <p:spPr>
          <a:xfrm>
            <a:off x="6720840" y="461772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</a:t>
            </a:r>
            <a:endParaRPr lang="en-US" sz="1100" dirty="0"/>
          </a:p>
        </p:txBody>
      </p:sp>
      <p:sp>
        <p:nvSpPr>
          <p:cNvPr id="41" name="Text 38"/>
          <p:cNvSpPr/>
          <p:nvPr/>
        </p:nvSpPr>
        <p:spPr>
          <a:xfrm>
            <a:off x="6720840" y="4892040"/>
            <a:ext cx="4709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DE8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select(Order).options(selectinload(Order.items))</a:t>
            </a:r>
            <a:endParaRPr lang="en-US" sz="125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Eager-load with the parent query. Add lazy="raise" on relationships so any future lazy touch fails loudly in dev — not silently in prod.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05895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1554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ANTI-PATTERN 4 OF 5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22960" y="2057400"/>
            <a:ext cx="8778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Pydantic validation overhead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41248" y="365760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9F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 v2 is fast. Validating the same data twice still isn’t.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9646920" y="2148840"/>
            <a:ext cx="1554480" cy="1554480"/>
          </a:xfrm>
          <a:prstGeom prst="ellipse">
            <a:avLst/>
          </a:prstGeom>
          <a:solidFill>
            <a:srgbClr val="16233A"/>
          </a:solidFill>
          <a:ln w="19050">
            <a:solidFill>
              <a:srgbClr val="10B981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40112" y="2542032"/>
            <a:ext cx="777240" cy="7772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841248" y="4937760"/>
            <a:ext cx="201168" cy="201168"/>
          </a:xfrm>
          <a:prstGeom prst="ellipse">
            <a:avLst/>
          </a:prstGeom>
          <a:solidFill>
            <a:srgbClr val="2A3A57"/>
          </a:solidFill>
          <a:ln/>
        </p:spPr>
      </p:sp>
      <p:sp>
        <p:nvSpPr>
          <p:cNvPr id="9" name="Shape 6"/>
          <p:cNvSpPr/>
          <p:nvPr/>
        </p:nvSpPr>
        <p:spPr>
          <a:xfrm>
            <a:off x="1207008" y="4937760"/>
            <a:ext cx="201168" cy="201168"/>
          </a:xfrm>
          <a:prstGeom prst="ellipse">
            <a:avLst/>
          </a:prstGeom>
          <a:solidFill>
            <a:srgbClr val="2A3A57"/>
          </a:solidFill>
          <a:ln/>
        </p:spPr>
      </p:sp>
      <p:sp>
        <p:nvSpPr>
          <p:cNvPr id="10" name="Shape 7"/>
          <p:cNvSpPr/>
          <p:nvPr/>
        </p:nvSpPr>
        <p:spPr>
          <a:xfrm>
            <a:off x="1572768" y="4937760"/>
            <a:ext cx="201168" cy="201168"/>
          </a:xfrm>
          <a:prstGeom prst="ellipse">
            <a:avLst/>
          </a:prstGeom>
          <a:solidFill>
            <a:srgbClr val="2A3A57"/>
          </a:solidFill>
          <a:ln/>
        </p:spPr>
      </p:sp>
      <p:sp>
        <p:nvSpPr>
          <p:cNvPr id="11" name="Shape 8"/>
          <p:cNvSpPr/>
          <p:nvPr/>
        </p:nvSpPr>
        <p:spPr>
          <a:xfrm>
            <a:off x="1938528" y="4937760"/>
            <a:ext cx="201168" cy="20116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2" name="Shape 9"/>
          <p:cNvSpPr/>
          <p:nvPr/>
        </p:nvSpPr>
        <p:spPr>
          <a:xfrm>
            <a:off x="2304288" y="4937760"/>
            <a:ext cx="201168" cy="201168"/>
          </a:xfrm>
          <a:prstGeom prst="ellipse">
            <a:avLst/>
          </a:prstGeom>
          <a:solidFill>
            <a:srgbClr val="2A3A57"/>
          </a:solidFill>
          <a:ln/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05895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0E1726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94360"/>
            <a:ext cx="292608" cy="2926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80160" y="38404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B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ANTI-PATTERN 4 · PROBLEM &amp; FIX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1280160" y="621792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Stop paying the validation tax twice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548640" y="1463040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FDECEF"/>
          </a:solidFill>
          <a:ln/>
        </p:spPr>
      </p:sp>
      <p:sp>
        <p:nvSpPr>
          <p:cNvPr id="8" name="Text 5"/>
          <p:cNvSpPr/>
          <p:nvPr/>
        </p:nvSpPr>
        <p:spPr>
          <a:xfrm>
            <a:off x="548640" y="1463040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48640" y="1874520"/>
            <a:ext cx="5486400" cy="1965960"/>
          </a:xfrm>
          <a:prstGeom prst="roundRect">
            <a:avLst>
              <a:gd name="adj" fmla="val 3721"/>
            </a:avLst>
          </a:prstGeom>
          <a:solidFill>
            <a:srgbClr val="111B2E"/>
          </a:solidFill>
          <a:ln/>
        </p:spPr>
      </p:sp>
      <p:sp>
        <p:nvSpPr>
          <p:cNvPr id="10" name="Shape 7"/>
          <p:cNvSpPr/>
          <p:nvPr/>
        </p:nvSpPr>
        <p:spPr>
          <a:xfrm>
            <a:off x="713232" y="2002536"/>
            <a:ext cx="91440" cy="91440"/>
          </a:xfrm>
          <a:prstGeom prst="ellipse">
            <a:avLst/>
          </a:prstGeom>
          <a:solidFill>
            <a:srgbClr val="ED6A5E"/>
          </a:solidFill>
          <a:ln/>
        </p:spPr>
      </p:sp>
      <p:sp>
        <p:nvSpPr>
          <p:cNvPr id="11" name="Shape 8"/>
          <p:cNvSpPr/>
          <p:nvPr/>
        </p:nvSpPr>
        <p:spPr>
          <a:xfrm>
            <a:off x="914400" y="2002536"/>
            <a:ext cx="91440" cy="91440"/>
          </a:xfrm>
          <a:prstGeom prst="ellipse">
            <a:avLst/>
          </a:prstGeom>
          <a:solidFill>
            <a:srgbClr val="F5BF4F"/>
          </a:solidFill>
          <a:ln/>
        </p:spPr>
      </p:sp>
      <p:sp>
        <p:nvSpPr>
          <p:cNvPr id="12" name="Shape 9"/>
          <p:cNvSpPr/>
          <p:nvPr/>
        </p:nvSpPr>
        <p:spPr>
          <a:xfrm>
            <a:off x="1115568" y="2002536"/>
            <a:ext cx="91440" cy="91440"/>
          </a:xfrm>
          <a:prstGeom prst="ellipse">
            <a:avLst/>
          </a:prstGeom>
          <a:solidFill>
            <a:srgbClr val="61C554"/>
          </a:solidFill>
          <a:ln/>
        </p:spPr>
      </p:sp>
      <p:sp>
        <p:nvSpPr>
          <p:cNvPr id="13" name="Text 10"/>
          <p:cNvSpPr/>
          <p:nvPr/>
        </p:nvSpPr>
        <p:spPr>
          <a:xfrm>
            <a:off x="777240" y="2194560"/>
            <a:ext cx="50292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raw = {"id": str(o.id), ...}   # manual dict</a:t>
            </a: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  = BadOrder.model_validate(raw)</a:t>
            </a: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49B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  = v.model_dump()             # round-trip 1</a:t>
            </a: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49B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v2 = BadOrder.model_validate(d) # round-trip 2!</a:t>
            </a: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v2.model_dump()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548640" y="3977640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Grown-organically middleware: nested models, chained validators, and the same payload validated twice on every response.</a:t>
            </a:r>
            <a:endParaRPr lang="en-US" sz="1450" dirty="0"/>
          </a:p>
        </p:txBody>
      </p:sp>
      <p:sp>
        <p:nvSpPr>
          <p:cNvPr id="15" name="Shape 12"/>
          <p:cNvSpPr/>
          <p:nvPr/>
        </p:nvSpPr>
        <p:spPr>
          <a:xfrm>
            <a:off x="6400800" y="1463040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E7F8F1"/>
          </a:solidFill>
          <a:ln/>
        </p:spPr>
      </p:sp>
      <p:sp>
        <p:nvSpPr>
          <p:cNvPr id="16" name="Text 13"/>
          <p:cNvSpPr/>
          <p:nvPr/>
        </p:nvSpPr>
        <p:spPr>
          <a:xfrm>
            <a:off x="6400800" y="1463040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6400800" y="1874520"/>
            <a:ext cx="5303520" cy="1965960"/>
          </a:xfrm>
          <a:prstGeom prst="roundRect">
            <a:avLst>
              <a:gd name="adj" fmla="val 3721"/>
            </a:avLst>
          </a:prstGeom>
          <a:solidFill>
            <a:srgbClr val="111B2E"/>
          </a:solidFill>
          <a:ln/>
        </p:spPr>
      </p:sp>
      <p:sp>
        <p:nvSpPr>
          <p:cNvPr id="18" name="Shape 15"/>
          <p:cNvSpPr/>
          <p:nvPr/>
        </p:nvSpPr>
        <p:spPr>
          <a:xfrm>
            <a:off x="6565392" y="2002536"/>
            <a:ext cx="91440" cy="91440"/>
          </a:xfrm>
          <a:prstGeom prst="ellipse">
            <a:avLst/>
          </a:prstGeom>
          <a:solidFill>
            <a:srgbClr val="ED6A5E"/>
          </a:solidFill>
          <a:ln/>
        </p:spPr>
      </p:sp>
      <p:sp>
        <p:nvSpPr>
          <p:cNvPr id="19" name="Shape 16"/>
          <p:cNvSpPr/>
          <p:nvPr/>
        </p:nvSpPr>
        <p:spPr>
          <a:xfrm>
            <a:off x="6766560" y="2002536"/>
            <a:ext cx="91440" cy="91440"/>
          </a:xfrm>
          <a:prstGeom prst="ellipse">
            <a:avLst/>
          </a:prstGeom>
          <a:solidFill>
            <a:srgbClr val="F5BF4F"/>
          </a:solidFill>
          <a:ln/>
        </p:spPr>
      </p:sp>
      <p:sp>
        <p:nvSpPr>
          <p:cNvPr id="20" name="Shape 17"/>
          <p:cNvSpPr/>
          <p:nvPr/>
        </p:nvSpPr>
        <p:spPr>
          <a:xfrm>
            <a:off x="6967728" y="2002536"/>
            <a:ext cx="91440" cy="91440"/>
          </a:xfrm>
          <a:prstGeom prst="ellipse">
            <a:avLst/>
          </a:prstGeom>
          <a:solidFill>
            <a:srgbClr val="61C554"/>
          </a:solidFill>
          <a:ln/>
        </p:spPr>
      </p:sp>
      <p:sp>
        <p:nvSpPr>
          <p:cNvPr id="21" name="Text 18"/>
          <p:cNvSpPr/>
          <p:nvPr/>
        </p:nvSpPr>
        <p:spPr>
          <a:xfrm>
            <a:off x="6629400" y="2194560"/>
            <a:ext cx="48463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GoodOrder(BaseModel):</a:t>
            </a: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model_config = ConfigDict(</a:t>
            </a: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DE8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from_attributes=True)</a:t>
            </a: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DE8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GoodOrder.model_validate(o).model_dump()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6400800" y="3977640"/>
            <a:ext cx="5303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once, straight off the ORM object. Internal-only data? Skip Pydantic — a </a:t>
            </a:r>
            <a:pPr indent="0" marL="0">
              <a:buNone/>
            </a:pPr>
            <a:r>
              <a:rPr lang="en-US" sz="1450" b="1" dirty="0">
                <a:solidFill>
                  <a:srgbClr val="0B7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dataclass</a:t>
            </a:r>
            <a:pPr indent="0" marL="0">
              <a:buNone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or </a:t>
            </a:r>
            <a:pPr indent="0" marL="0">
              <a:buNone/>
            </a:pPr>
            <a:r>
              <a:rPr lang="en-US" sz="1450" b="1" dirty="0">
                <a:solidFill>
                  <a:srgbClr val="0B7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TypedDict</a:t>
            </a:r>
            <a:pPr indent="0" marL="0">
              <a:buNone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enough.</a:t>
            </a:r>
            <a:endParaRPr lang="en-US" sz="1450" dirty="0"/>
          </a:p>
        </p:txBody>
      </p:sp>
      <p:graphicFrame>
        <p:nvGraphicFramePr>
          <p:cNvPr id="23" name="Chart 0" descr=""/>
          <p:cNvGraphicFramePr/>
          <p:nvPr/>
        </p:nvGraphicFramePr>
        <p:xfrm>
          <a:off x="548640" y="4846320"/>
          <a:ext cx="7498080" cy="1691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4" name="Shape 20"/>
          <p:cNvSpPr/>
          <p:nvPr/>
        </p:nvSpPr>
        <p:spPr>
          <a:xfrm>
            <a:off x="8321040" y="4846320"/>
            <a:ext cx="3291840" cy="1691640"/>
          </a:xfrm>
          <a:prstGeom prst="roundRect">
            <a:avLst>
              <a:gd name="adj" fmla="val 5405"/>
            </a:avLst>
          </a:prstGeom>
          <a:solidFill>
            <a:srgbClr val="F1F5F9"/>
          </a:solidFill>
          <a:ln/>
        </p:spPr>
      </p:sp>
      <p:sp>
        <p:nvSpPr>
          <p:cNvPr id="25" name="Text 21"/>
          <p:cNvSpPr/>
          <p:nvPr/>
        </p:nvSpPr>
        <p:spPr>
          <a:xfrm>
            <a:off x="8595360" y="498348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11D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~1.9×</a:t>
            </a:r>
            <a:endParaRPr lang="en-US" sz="3800" dirty="0"/>
          </a:p>
        </p:txBody>
      </p:sp>
      <p:sp>
        <p:nvSpPr>
          <p:cNvPr id="26" name="Text 22"/>
          <p:cNvSpPr/>
          <p:nvPr/>
        </p:nvSpPr>
        <p:spPr>
          <a:xfrm>
            <a:off x="8595360" y="5687568"/>
            <a:ext cx="2788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slower — and ~1.8× the function calls — for validating identical data twice.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05895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1554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ANTI-PATTERN 5 OF 5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22960" y="2057400"/>
            <a:ext cx="8778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Connection pool starvation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41248" y="365760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9F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Tutorial defaults: pool_size=5, max_overflow=10. Fine on a laptop. Dangerous under load.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9646920" y="2148840"/>
            <a:ext cx="1554480" cy="1554480"/>
          </a:xfrm>
          <a:prstGeom prst="ellipse">
            <a:avLst/>
          </a:prstGeom>
          <a:solidFill>
            <a:srgbClr val="16233A"/>
          </a:solidFill>
          <a:ln w="19050">
            <a:solidFill>
              <a:srgbClr val="10B981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40112" y="2542032"/>
            <a:ext cx="777240" cy="7772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841248" y="4937760"/>
            <a:ext cx="201168" cy="201168"/>
          </a:xfrm>
          <a:prstGeom prst="ellipse">
            <a:avLst/>
          </a:prstGeom>
          <a:solidFill>
            <a:srgbClr val="2A3A57"/>
          </a:solidFill>
          <a:ln/>
        </p:spPr>
      </p:sp>
      <p:sp>
        <p:nvSpPr>
          <p:cNvPr id="9" name="Shape 6"/>
          <p:cNvSpPr/>
          <p:nvPr/>
        </p:nvSpPr>
        <p:spPr>
          <a:xfrm>
            <a:off x="1207008" y="4937760"/>
            <a:ext cx="201168" cy="201168"/>
          </a:xfrm>
          <a:prstGeom prst="ellipse">
            <a:avLst/>
          </a:prstGeom>
          <a:solidFill>
            <a:srgbClr val="2A3A57"/>
          </a:solidFill>
          <a:ln/>
        </p:spPr>
      </p:sp>
      <p:sp>
        <p:nvSpPr>
          <p:cNvPr id="10" name="Shape 7"/>
          <p:cNvSpPr/>
          <p:nvPr/>
        </p:nvSpPr>
        <p:spPr>
          <a:xfrm>
            <a:off x="1572768" y="4937760"/>
            <a:ext cx="201168" cy="201168"/>
          </a:xfrm>
          <a:prstGeom prst="ellipse">
            <a:avLst/>
          </a:prstGeom>
          <a:solidFill>
            <a:srgbClr val="2A3A57"/>
          </a:solidFill>
          <a:ln/>
        </p:spPr>
      </p:sp>
      <p:sp>
        <p:nvSpPr>
          <p:cNvPr id="11" name="Shape 8"/>
          <p:cNvSpPr/>
          <p:nvPr/>
        </p:nvSpPr>
        <p:spPr>
          <a:xfrm>
            <a:off x="1938528" y="4937760"/>
            <a:ext cx="201168" cy="201168"/>
          </a:xfrm>
          <a:prstGeom prst="ellipse">
            <a:avLst/>
          </a:prstGeom>
          <a:solidFill>
            <a:srgbClr val="2A3A57"/>
          </a:solidFill>
          <a:ln/>
        </p:spPr>
      </p:sp>
      <p:sp>
        <p:nvSpPr>
          <p:cNvPr id="12" name="Shape 9"/>
          <p:cNvSpPr/>
          <p:nvPr/>
        </p:nvSpPr>
        <p:spPr>
          <a:xfrm>
            <a:off x="2304288" y="4937760"/>
            <a:ext cx="201168" cy="201168"/>
          </a:xfrm>
          <a:prstGeom prst="ellipse">
            <a:avLst/>
          </a:prstGeom>
          <a:solidFill>
            <a:srgbClr val="10B981"/>
          </a:solidFill>
          <a:ln/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05895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0E1726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94360"/>
            <a:ext cx="292608" cy="2926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80160" y="38404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B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ANTI-PATTERN 5 · THE EVIDENCE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1280160" y="621792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code, same load — only the pool differs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548640" y="13716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locust · 100 users · 20s · near-instant ramp</a:t>
            </a:r>
            <a:endParaRPr lang="en-US" sz="13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548640" y="1828800"/>
          <a:ext cx="676656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Shape 5"/>
          <p:cNvSpPr/>
          <p:nvPr/>
        </p:nvSpPr>
        <p:spPr>
          <a:xfrm>
            <a:off x="7589520" y="1828800"/>
            <a:ext cx="4023360" cy="1005840"/>
          </a:xfrm>
          <a:prstGeom prst="roundRect">
            <a:avLst>
              <a:gd name="adj" fmla="val 9091"/>
            </a:avLst>
          </a:prstGeom>
          <a:solidFill>
            <a:srgbClr val="E7F8F1"/>
          </a:solidFill>
          <a:ln/>
        </p:spPr>
      </p:sp>
      <p:sp>
        <p:nvSpPr>
          <p:cNvPr id="10" name="Text 6"/>
          <p:cNvSpPr/>
          <p:nvPr/>
        </p:nvSpPr>
        <p:spPr>
          <a:xfrm>
            <a:off x="7863840" y="192024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7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3.7×</a:t>
            </a:r>
            <a:endParaRPr lang="en-US" sz="2600" dirty="0"/>
          </a:p>
        </p:txBody>
      </p:sp>
      <p:sp>
        <p:nvSpPr>
          <p:cNvPr id="11" name="Text 7"/>
          <p:cNvSpPr/>
          <p:nvPr/>
        </p:nvSpPr>
        <p:spPr>
          <a:xfrm>
            <a:off x="7863840" y="239572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throughput, from a config change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7589520" y="2971800"/>
            <a:ext cx="4023360" cy="1005840"/>
          </a:xfrm>
          <a:prstGeom prst="roundRect">
            <a:avLst>
              <a:gd name="adj" fmla="val 9091"/>
            </a:avLst>
          </a:prstGeom>
          <a:solidFill>
            <a:srgbClr val="FDECEF"/>
          </a:solidFill>
          <a:ln/>
        </p:spPr>
      </p:sp>
      <p:sp>
        <p:nvSpPr>
          <p:cNvPr id="13" name="Text 9"/>
          <p:cNvSpPr/>
          <p:nvPr/>
        </p:nvSpPr>
        <p:spPr>
          <a:xfrm>
            <a:off x="7863840" y="306324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11D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2.1% → 0%</a:t>
            </a:r>
            <a:endParaRPr lang="en-US" sz="2600" dirty="0"/>
          </a:p>
        </p:txBody>
      </p:sp>
      <p:sp>
        <p:nvSpPr>
          <p:cNvPr id="14" name="Text 10"/>
          <p:cNvSpPr/>
          <p:nvPr/>
        </p:nvSpPr>
        <p:spPr>
          <a:xfrm>
            <a:off x="7863840" y="353872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failures under load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7589520" y="4114800"/>
            <a:ext cx="4023360" cy="1005840"/>
          </a:xfrm>
          <a:prstGeom prst="roundRect">
            <a:avLst>
              <a:gd name="adj" fmla="val 9091"/>
            </a:avLst>
          </a:prstGeom>
          <a:solidFill>
            <a:srgbClr val="F1F5F9"/>
          </a:solidFill>
          <a:ln/>
        </p:spPr>
      </p:sp>
      <p:sp>
        <p:nvSpPr>
          <p:cNvPr id="16" name="Text 12"/>
          <p:cNvSpPr/>
          <p:nvPr/>
        </p:nvSpPr>
        <p:spPr>
          <a:xfrm>
            <a:off x="7863840" y="420624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7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530ms</a:t>
            </a:r>
            <a:endParaRPr lang="en-US" sz="2600" dirty="0"/>
          </a:p>
        </p:txBody>
      </p:sp>
      <p:sp>
        <p:nvSpPr>
          <p:cNvPr id="17" name="Text 13"/>
          <p:cNvSpPr/>
          <p:nvPr/>
        </p:nvSpPr>
        <p:spPr>
          <a:xfrm>
            <a:off x="7863840" y="468172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latency, down from 2,200ms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548640" y="5349240"/>
            <a:ext cx="11064240" cy="1097280"/>
          </a:xfrm>
          <a:prstGeom prst="roundRect">
            <a:avLst>
              <a:gd name="adj" fmla="val 8333"/>
            </a:avLst>
          </a:prstGeom>
          <a:solidFill>
            <a:srgbClr val="0E1726"/>
          </a:solidFill>
          <a:ln/>
        </p:spPr>
      </p:sp>
      <p:sp>
        <p:nvSpPr>
          <p:cNvPr id="19" name="Text 15"/>
          <p:cNvSpPr/>
          <p:nvPr/>
        </p:nvSpPr>
        <p:spPr>
          <a:xfrm>
            <a:off x="868680" y="534924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failure, same traceback:  </a:t>
            </a:r>
            <a:pPr indent="0" marL="0">
              <a:buNone/>
            </a:pPr>
            <a:r>
              <a:rPr lang="en-US" sz="1250" dirty="0">
                <a:solidFill>
                  <a:srgbClr val="F8B4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sqlalchemy.exc.TimeoutError: QueuePool limit of size 5 overflow 10 reached, connection timed out, timeout 2.00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size pool_size / max_overflow for real concurrency, choose pool_timeout deliberately, set pool_recycle for idle staleness.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05895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THIS HOME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8229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five-point performance checklist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22960" y="1691640"/>
            <a:ext cx="10515600" cy="804672"/>
          </a:xfrm>
          <a:prstGeom prst="roundRect">
            <a:avLst>
              <a:gd name="adj" fmla="val 11364"/>
            </a:avLst>
          </a:prstGeom>
          <a:solidFill>
            <a:srgbClr val="16233A"/>
          </a:solidFill>
          <a:ln/>
        </p:spPr>
      </p:sp>
      <p:sp>
        <p:nvSpPr>
          <p:cNvPr id="6" name="Shape 4"/>
          <p:cNvSpPr/>
          <p:nvPr/>
        </p:nvSpPr>
        <p:spPr>
          <a:xfrm>
            <a:off x="1051560" y="1847088"/>
            <a:ext cx="493776" cy="493776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184708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17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783080" y="1783080"/>
            <a:ext cx="3291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loop hygiene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212080" y="1783080"/>
            <a:ext cx="5943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sync I/O inside async def — verify with py-spy or PYTHONASYNCIODEBUG=1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22960" y="2624328"/>
            <a:ext cx="10515600" cy="804672"/>
          </a:xfrm>
          <a:prstGeom prst="roundRect">
            <a:avLst>
              <a:gd name="adj" fmla="val 11364"/>
            </a:avLst>
          </a:prstGeom>
          <a:solidFill>
            <a:srgbClr val="16233A"/>
          </a:solidFill>
          <a:ln/>
        </p:spPr>
      </p:sp>
      <p:sp>
        <p:nvSpPr>
          <p:cNvPr id="11" name="Shape 9"/>
          <p:cNvSpPr/>
          <p:nvPr/>
        </p:nvSpPr>
        <p:spPr>
          <a:xfrm>
            <a:off x="1051560" y="2779776"/>
            <a:ext cx="493776" cy="493776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2" name="Text 10"/>
          <p:cNvSpPr/>
          <p:nvPr/>
        </p:nvSpPr>
        <p:spPr>
          <a:xfrm>
            <a:off x="1051560" y="2779776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17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783080" y="2715768"/>
            <a:ext cx="3291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 lifecycle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212080" y="2715768"/>
            <a:ext cx="5943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Engines &amp; clients built once in the lifespan, borrowed via yield-dependencies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22960" y="3557016"/>
            <a:ext cx="10515600" cy="804672"/>
          </a:xfrm>
          <a:prstGeom prst="roundRect">
            <a:avLst>
              <a:gd name="adj" fmla="val 11364"/>
            </a:avLst>
          </a:prstGeom>
          <a:solidFill>
            <a:srgbClr val="16233A"/>
          </a:solidFill>
          <a:ln/>
        </p:spPr>
      </p:sp>
      <p:sp>
        <p:nvSpPr>
          <p:cNvPr id="16" name="Shape 14"/>
          <p:cNvSpPr/>
          <p:nvPr/>
        </p:nvSpPr>
        <p:spPr>
          <a:xfrm>
            <a:off x="1051560" y="3712464"/>
            <a:ext cx="493776" cy="493776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7" name="Text 15"/>
          <p:cNvSpPr/>
          <p:nvPr/>
        </p:nvSpPr>
        <p:spPr>
          <a:xfrm>
            <a:off x="1051560" y="3712464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17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783080" y="3648456"/>
            <a:ext cx="3291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ORM loading strategy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212080" y="3648456"/>
            <a:ext cx="5943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Eager-load every relationship you touch; lazy="raise" as a tripwire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22960" y="4489704"/>
            <a:ext cx="10515600" cy="804672"/>
          </a:xfrm>
          <a:prstGeom prst="roundRect">
            <a:avLst>
              <a:gd name="adj" fmla="val 11364"/>
            </a:avLst>
          </a:prstGeom>
          <a:solidFill>
            <a:srgbClr val="16233A"/>
          </a:solidFill>
          <a:ln/>
        </p:spPr>
      </p:sp>
      <p:sp>
        <p:nvSpPr>
          <p:cNvPr id="21" name="Shape 19"/>
          <p:cNvSpPr/>
          <p:nvPr/>
        </p:nvSpPr>
        <p:spPr>
          <a:xfrm>
            <a:off x="1051560" y="4645152"/>
            <a:ext cx="493776" cy="493776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2" name="Text 20"/>
          <p:cNvSpPr/>
          <p:nvPr/>
        </p:nvSpPr>
        <p:spPr>
          <a:xfrm>
            <a:off x="1051560" y="464515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17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783080" y="4581144"/>
            <a:ext cx="3291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 usage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212080" y="4581144"/>
            <a:ext cx="5943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from_attributes=True, validate once; skip Pydantic for internal-only data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822960" y="5422392"/>
            <a:ext cx="10515600" cy="804672"/>
          </a:xfrm>
          <a:prstGeom prst="roundRect">
            <a:avLst>
              <a:gd name="adj" fmla="val 11364"/>
            </a:avLst>
          </a:prstGeom>
          <a:solidFill>
            <a:srgbClr val="16233A"/>
          </a:solidFill>
          <a:ln/>
        </p:spPr>
      </p:sp>
      <p:sp>
        <p:nvSpPr>
          <p:cNvPr id="26" name="Shape 24"/>
          <p:cNvSpPr/>
          <p:nvPr/>
        </p:nvSpPr>
        <p:spPr>
          <a:xfrm>
            <a:off x="1051560" y="5577840"/>
            <a:ext cx="493776" cy="493776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7" name="Text 25"/>
          <p:cNvSpPr/>
          <p:nvPr/>
        </p:nvSpPr>
        <p:spPr>
          <a:xfrm>
            <a:off x="1051560" y="557784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17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783080" y="5513832"/>
            <a:ext cx="3291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 pool sizing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212080" y="5513832"/>
            <a:ext cx="5943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 for real concurrency; pick pool_timeout and pool_recycle on purpose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822960" y="64008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F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item maps to a captured before/after measurement in the repo — not a vibe.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05895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B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PROFILING TOOLKIT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free tools that found everything today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064240" cy="841248"/>
          </a:xfrm>
          <a:prstGeom prst="roundRect">
            <a:avLst>
              <a:gd name="adj" fmla="val 1087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627632"/>
            <a:ext cx="23774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py-spy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383280" y="1627632"/>
            <a:ext cx="44805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Zero-instrumentation sampling profiler — flame graphs of a live process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8001000" y="1709928"/>
            <a:ext cx="3429000" cy="530352"/>
          </a:xfrm>
          <a:prstGeom prst="roundRect">
            <a:avLst>
              <a:gd name="adj" fmla="val 12069"/>
            </a:avLst>
          </a:prstGeom>
          <a:solidFill>
            <a:srgbClr val="111B2E"/>
          </a:solidFill>
          <a:ln/>
        </p:spPr>
      </p:sp>
      <p:sp>
        <p:nvSpPr>
          <p:cNvPr id="9" name="Text 7"/>
          <p:cNvSpPr/>
          <p:nvPr/>
        </p:nvSpPr>
        <p:spPr>
          <a:xfrm>
            <a:off x="8183880" y="1709928"/>
            <a:ext cx="3108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DE8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py-spy record --pid &lt;PID&gt; -o out.svg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2523744"/>
            <a:ext cx="11064240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2596896"/>
            <a:ext cx="23774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asyncio debug mode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383280" y="2596896"/>
            <a:ext cx="44805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any task that holds the loop too long — free blocking-call detector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001000" y="2679192"/>
            <a:ext cx="3429000" cy="530352"/>
          </a:xfrm>
          <a:prstGeom prst="roundRect">
            <a:avLst>
              <a:gd name="adj" fmla="val 12069"/>
            </a:avLst>
          </a:prstGeom>
          <a:solidFill>
            <a:srgbClr val="111B2E"/>
          </a:solidFill>
          <a:ln/>
        </p:spPr>
      </p:sp>
      <p:sp>
        <p:nvSpPr>
          <p:cNvPr id="14" name="Text 12"/>
          <p:cNvSpPr/>
          <p:nvPr/>
        </p:nvSpPr>
        <p:spPr>
          <a:xfrm>
            <a:off x="8183880" y="2679192"/>
            <a:ext cx="3108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DE8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PYTHONASYNCIODEBUG=1 python app.py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48640" y="3493008"/>
            <a:ext cx="11064240" cy="841248"/>
          </a:xfrm>
          <a:prstGeom prst="roundRect">
            <a:avLst>
              <a:gd name="adj" fmla="val 1087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3566160"/>
            <a:ext cx="23774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cProfile + pstats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383280" y="3566160"/>
            <a:ext cx="44805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Function-level CPU cost — watch call counts, not just wall time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001000" y="3648456"/>
            <a:ext cx="3429000" cy="530352"/>
          </a:xfrm>
          <a:prstGeom prst="roundRect">
            <a:avLst>
              <a:gd name="adj" fmla="val 12069"/>
            </a:avLst>
          </a:prstGeom>
          <a:solidFill>
            <a:srgbClr val="111B2E"/>
          </a:solidFill>
          <a:ln/>
        </p:spPr>
      </p:sp>
      <p:sp>
        <p:nvSpPr>
          <p:cNvPr id="19" name="Text 17"/>
          <p:cNvSpPr/>
          <p:nvPr/>
        </p:nvSpPr>
        <p:spPr>
          <a:xfrm>
            <a:off x="8183880" y="3648456"/>
            <a:ext cx="3108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DE8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-m cProfile -o out.prof script.py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4462272"/>
            <a:ext cx="11064240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68680" y="4535424"/>
            <a:ext cx="23774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SQLAlchemy echo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3383280" y="4535424"/>
            <a:ext cx="44805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SQL statement, so N+1 has nowhere to hide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8001000" y="4617720"/>
            <a:ext cx="3429000" cy="530352"/>
          </a:xfrm>
          <a:prstGeom prst="roundRect">
            <a:avLst>
              <a:gd name="adj" fmla="val 12069"/>
            </a:avLst>
          </a:prstGeom>
          <a:solidFill>
            <a:srgbClr val="111B2E"/>
          </a:solidFill>
          <a:ln/>
        </p:spPr>
      </p:sp>
      <p:sp>
        <p:nvSpPr>
          <p:cNvPr id="24" name="Text 22"/>
          <p:cNvSpPr/>
          <p:nvPr/>
        </p:nvSpPr>
        <p:spPr>
          <a:xfrm>
            <a:off x="8183880" y="4617720"/>
            <a:ext cx="3108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DE8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create_async_engine(url, echo=True)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48640" y="5431536"/>
            <a:ext cx="11064240" cy="841248"/>
          </a:xfrm>
          <a:prstGeom prst="roundRect">
            <a:avLst>
              <a:gd name="adj" fmla="val 1087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68680" y="5504688"/>
            <a:ext cx="23774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locust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3383280" y="5504688"/>
            <a:ext cx="44805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Realistic concurrent load — how pools and timeouts behave under pressure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8001000" y="5586984"/>
            <a:ext cx="3429000" cy="530352"/>
          </a:xfrm>
          <a:prstGeom prst="roundRect">
            <a:avLst>
              <a:gd name="adj" fmla="val 12069"/>
            </a:avLst>
          </a:prstGeom>
          <a:solidFill>
            <a:srgbClr val="111B2E"/>
          </a:solidFill>
          <a:ln/>
        </p:spPr>
      </p:sp>
      <p:sp>
        <p:nvSpPr>
          <p:cNvPr id="29" name="Text 27"/>
          <p:cNvSpPr/>
          <p:nvPr/>
        </p:nvSpPr>
        <p:spPr>
          <a:xfrm>
            <a:off x="8183880" y="5586984"/>
            <a:ext cx="3108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DE8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locust --headless -u 100 -r 100 -t 20s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05895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5477256" y="1051560"/>
            <a:ext cx="1234440" cy="1234440"/>
          </a:xfrm>
          <a:prstGeom prst="ellipse">
            <a:avLst/>
          </a:prstGeom>
          <a:solidFill>
            <a:srgbClr val="16233A"/>
          </a:solidFill>
          <a:ln w="19050">
            <a:solidFill>
              <a:srgbClr val="10B981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9008" y="1353312"/>
            <a:ext cx="630936" cy="63093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256032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number in this talk is reproducible</a:t>
            </a:r>
            <a:endParaRPr lang="en-US" sz="3400" dirty="0"/>
          </a:p>
        </p:txBody>
      </p:sp>
      <p:sp>
        <p:nvSpPr>
          <p:cNvPr id="6" name="Shape 3"/>
          <p:cNvSpPr/>
          <p:nvPr/>
        </p:nvSpPr>
        <p:spPr>
          <a:xfrm>
            <a:off x="1737360" y="3474720"/>
            <a:ext cx="8732520" cy="685800"/>
          </a:xfrm>
          <a:prstGeom prst="roundRect">
            <a:avLst>
              <a:gd name="adj" fmla="val 16000"/>
            </a:avLst>
          </a:prstGeom>
          <a:solidFill>
            <a:srgbClr val="16233A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737360" y="3474720"/>
            <a:ext cx="8732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DE8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github.com/satyamsoni2211/fastapi-performance-deep-dive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44348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F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 up  →  every demo, benchmark, flame graph and test on your machine tonight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22960" y="53492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0B98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Questions?</a:t>
            </a:r>
            <a:endParaRPr lang="en-US" sz="2800" dirty="0"/>
          </a:p>
        </p:txBody>
      </p:sp>
      <p:sp>
        <p:nvSpPr>
          <p:cNvPr id="10" name="Text 7"/>
          <p:cNvSpPr/>
          <p:nvPr/>
        </p:nvSpPr>
        <p:spPr>
          <a:xfrm>
            <a:off x="822960" y="60350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F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Satyam Soni · lazy_alchemy author · github.com/satyamsoni2211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2026-08-18T19:40:07Z</dcterms:created>
  <dcterms:modified xsi:type="dcterms:W3CDTF">2026-08-18T19:40:07Z</dcterms:modified>
</cp:coreProperties>
</file>